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3"/>
  </p:notesMasterIdLst>
  <p:sldIdLst>
    <p:sldId id="256" r:id="rId2"/>
    <p:sldId id="293" r:id="rId3"/>
    <p:sldId id="319" r:id="rId4"/>
    <p:sldId id="257" r:id="rId5"/>
    <p:sldId id="295" r:id="rId6"/>
    <p:sldId id="349" r:id="rId7"/>
    <p:sldId id="345" r:id="rId8"/>
    <p:sldId id="350" r:id="rId9"/>
    <p:sldId id="389" r:id="rId10"/>
    <p:sldId id="351" r:id="rId11"/>
    <p:sldId id="352" r:id="rId12"/>
    <p:sldId id="369" r:id="rId13"/>
    <p:sldId id="376" r:id="rId14"/>
    <p:sldId id="372" r:id="rId15"/>
    <p:sldId id="373" r:id="rId16"/>
    <p:sldId id="374" r:id="rId17"/>
    <p:sldId id="401" r:id="rId18"/>
    <p:sldId id="391" r:id="rId19"/>
    <p:sldId id="367" r:id="rId20"/>
    <p:sldId id="366" r:id="rId21"/>
    <p:sldId id="355" r:id="rId22"/>
    <p:sldId id="371" r:id="rId23"/>
    <p:sldId id="359" r:id="rId24"/>
    <p:sldId id="354" r:id="rId25"/>
    <p:sldId id="357" r:id="rId26"/>
    <p:sldId id="356" r:id="rId27"/>
    <p:sldId id="358" r:id="rId28"/>
    <p:sldId id="384" r:id="rId29"/>
    <p:sldId id="385" r:id="rId30"/>
    <p:sldId id="386" r:id="rId31"/>
    <p:sldId id="321" r:id="rId32"/>
    <p:sldId id="363" r:id="rId33"/>
    <p:sldId id="395" r:id="rId34"/>
    <p:sldId id="399" r:id="rId35"/>
    <p:sldId id="362" r:id="rId36"/>
    <p:sldId id="360" r:id="rId37"/>
    <p:sldId id="361" r:id="rId38"/>
    <p:sldId id="368" r:id="rId39"/>
    <p:sldId id="365" r:id="rId40"/>
    <p:sldId id="388" r:id="rId41"/>
    <p:sldId id="276" r:id="rId42"/>
    <p:sldId id="383" r:id="rId43"/>
    <p:sldId id="380" r:id="rId44"/>
    <p:sldId id="397" r:id="rId45"/>
    <p:sldId id="382" r:id="rId46"/>
    <p:sldId id="387" r:id="rId47"/>
    <p:sldId id="329" r:id="rId48"/>
    <p:sldId id="348" r:id="rId49"/>
    <p:sldId id="275" r:id="rId50"/>
    <p:sldId id="402" r:id="rId51"/>
    <p:sldId id="344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6" autoAdjust="0"/>
    <p:restoredTop sz="55151" autoAdjust="0"/>
  </p:normalViewPr>
  <p:slideViewPr>
    <p:cSldViewPr snapToGrid="0">
      <p:cViewPr varScale="1">
        <p:scale>
          <a:sx n="127" d="100"/>
          <a:sy n="127" d="100"/>
        </p:scale>
        <p:origin x="150" y="45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95D94AF-96EB-487C-B939-6CE2DFBD4DC7}" type="datetime1">
              <a:rPr lang="ko-KR" altLang="en-US"/>
              <a:pPr lvl="0">
                <a:defRPr/>
              </a:pPr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DC154FB-B7D0-4F76-BDDE-18AD8868F6C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KVS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key</a:t>
            </a:r>
            <a:r>
              <a:rPr lang="ko-KR" altLang="en-US" dirty="0"/>
              <a:t> </a:t>
            </a:r>
            <a:r>
              <a:rPr lang="en-US" altLang="ko-KR" dirty="0"/>
              <a:t>value</a:t>
            </a:r>
            <a:r>
              <a:rPr lang="ko-KR" altLang="en-US" dirty="0"/>
              <a:t> </a:t>
            </a:r>
            <a:r>
              <a:rPr lang="en-US" altLang="ko-KR" dirty="0"/>
              <a:t>store</a:t>
            </a:r>
          </a:p>
          <a:p>
            <a:pPr lvl="0">
              <a:defRPr/>
            </a:pPr>
            <a:r>
              <a:rPr lang="en-US" altLang="ko-KR" dirty="0"/>
              <a:t>Redis, Memcached, etc.</a:t>
            </a:r>
          </a:p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6844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123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49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1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584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For server,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4522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2702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022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76695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762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727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7169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649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5610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150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3300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5814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5572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4857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0"/>
              <a:t>Message format is simple and parsing is not your part of assignment. </a:t>
            </a:r>
          </a:p>
          <a:p>
            <a:r>
              <a:rPr lang="en-US" altLang="ko-KR" b="0"/>
              <a:t>We’ll see skeleton later.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9622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When EOF</a:t>
            </a:r>
            <a:r>
              <a:rPr lang="ko-KR" altLang="en-US"/>
              <a:t> </a:t>
            </a:r>
            <a:r>
              <a:rPr lang="en-US" altLang="ko-KR"/>
              <a:t>or</a:t>
            </a:r>
            <a:r>
              <a:rPr lang="ko-KR" altLang="en-US"/>
              <a:t> </a:t>
            </a:r>
            <a:r>
              <a:rPr lang="en-US" altLang="ko-KR"/>
              <a:t>empty line is received, “client” should close connection.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07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21967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226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6277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7259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693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3697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289374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73987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41756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76988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normal read</a:t>
            </a:r>
            <a:r>
              <a:rPr lang="ko-KR" altLang="en-US" dirty="0"/>
              <a:t> </a:t>
            </a:r>
            <a:r>
              <a:rPr lang="en-US" altLang="ko-KR" dirty="0"/>
              <a:t>/</a:t>
            </a:r>
            <a:r>
              <a:rPr lang="ko-KR" altLang="en-US" dirty="0"/>
              <a:t> </a:t>
            </a:r>
            <a:r>
              <a:rPr lang="en-US" altLang="ko-KR" dirty="0"/>
              <a:t>quick read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88575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26077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5646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1891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809781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8128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798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89617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9429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9362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6647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9810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892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71000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As it’s my first time to do TA, I’m gonna be strict. So please don’t violate these rules.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5950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DC154FB-B7D0-4F76-BDDE-18AD8868F6C3}" type="slidenum">
              <a:rPr lang="ko-KR" altLang="en-US" smtClean="0"/>
              <a:pPr lvl="0">
                <a:defRPr/>
              </a:pPr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48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A512A-69A6-4B6F-8AAB-BBC9E3F81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aseline="0">
                <a:latin typeface="Bahnschrift" panose="020B0502040204020203" pitchFamily="34" charset="0"/>
                <a:ea typeface="나눔바른고딕" panose="020B0603020101020101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E287C8-CB7D-4124-B935-6DFACC3FF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83304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Bahnschrift Light" panose="020B0502040204020203" pitchFamily="34" charset="0"/>
                <a:ea typeface="나눔바른고딕 Light" panose="020B0603020101020101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78188-48EC-4439-823E-ADEBB7EC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0016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3">
            <a:extLst>
              <a:ext uri="{FF2B5EF4-FFF2-40B4-BE49-F238E27FC236}">
                <a16:creationId xmlns:a16="http://schemas.microsoft.com/office/drawing/2014/main" id="{C24D4D0E-B991-487F-B051-7F83A85C8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 baseline="0">
                <a:solidFill>
                  <a:srgbClr val="002060"/>
                </a:solidFill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텍스트 개체 틀 7">
            <a:extLst>
              <a:ext uri="{FF2B5EF4-FFF2-40B4-BE49-F238E27FC236}">
                <a16:creationId xmlns:a16="http://schemas.microsoft.com/office/drawing/2014/main" id="{A2BF3651-139C-4C2A-B50C-F1D08E6D06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1pPr>
            <a:lvl2pPr>
              <a:defRPr sz="20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2pPr>
            <a:lvl3pPr>
              <a:defRPr sz="18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3pPr>
            <a:lvl4pPr>
              <a:defRPr sz="16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4pPr>
            <a:lvl5pPr>
              <a:defRPr sz="1600" baseline="0">
                <a:latin typeface="Tahoma" panose="020B0604030504040204" pitchFamily="34" charset="0"/>
                <a:ea typeface="나눔바른고딕" panose="020B0603020101020101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458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09552" y="778386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002060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2000">
                <a:latin typeface="Tahoma" panose="020B0604030504040204" pitchFamily="34" charset="0"/>
                <a:cs typeface="Tahoma" panose="020B0604030504040204" pitchFamily="34" charset="0"/>
              </a:defRPr>
            </a:lvl2pPr>
            <a:lvl3pPr>
              <a:defRPr sz="1800">
                <a:latin typeface="Tahoma" panose="020B0604030504040204" pitchFamily="34" charset="0"/>
                <a:cs typeface="Tahoma" panose="020B0604030504040204" pitchFamily="34" charset="0"/>
              </a:defRPr>
            </a:lvl3pPr>
            <a:lvl4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4pPr>
            <a:lvl5pPr>
              <a:defRPr sz="1600">
                <a:latin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856820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C655A9F-7736-4AB1-8EC3-D9D7FDFC6BA9}"/>
              </a:ext>
            </a:extLst>
          </p:cNvPr>
          <p:cNvCxnSpPr>
            <a:cxnSpLocks/>
          </p:cNvCxnSpPr>
          <p:nvPr userDrawn="1"/>
        </p:nvCxnSpPr>
        <p:spPr>
          <a:xfrm>
            <a:off x="209552" y="796434"/>
            <a:ext cx="1172527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7279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‹#›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C3C8253-BD6E-4E99-9512-D1ABAD65749A}"/>
              </a:ext>
            </a:extLst>
          </p:cNvPr>
          <p:cNvCxnSpPr>
            <a:cxnSpLocks/>
          </p:cNvCxnSpPr>
          <p:nvPr userDrawn="1"/>
        </p:nvCxnSpPr>
        <p:spPr>
          <a:xfrm>
            <a:off x="228600" y="796434"/>
            <a:ext cx="11668125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>
            <a:extLst>
              <a:ext uri="{FF2B5EF4-FFF2-40B4-BE49-F238E27FC236}">
                <a16:creationId xmlns:a16="http://schemas.microsoft.com/office/drawing/2014/main" id="{73512CED-D7AF-4EA2-B543-7A185FE19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73474"/>
            <a:ext cx="11369963" cy="573577"/>
          </a:xfrm>
          <a:prstGeom prst="rect">
            <a:avLst/>
          </a:prstGeom>
        </p:spPr>
        <p:txBody>
          <a:bodyPr/>
          <a:lstStyle>
            <a:lvl1pPr>
              <a:defRPr sz="4000">
                <a:solidFill>
                  <a:srgbClr val="00206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9E6EBE8F-2CA7-4A84-87FD-E8EBE959A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552" y="939800"/>
            <a:ext cx="11369963" cy="514032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>
            <a:lvl1pPr marL="228594" indent="-228594"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/>
            </a:lvl1pPr>
            <a:lvl2pPr>
              <a:defRPr/>
            </a:lvl2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81981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E9B277-E6D2-4E96-8113-BC37E48E1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19408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>
                <a:latin typeface="+mj-ea"/>
                <a:ea typeface="+mj-ea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0175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0E6D3D-8684-42A0-99D4-8DA89870E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indent="0" algn="ctr">
              <a:buFont typeface="+mj-lt"/>
              <a:buNone/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63417E64-10DB-45FE-B3AC-8C68DD67C89D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C422D9F-E06E-48CE-8264-9CF1168BF5B8}"/>
              </a:ext>
            </a:extLst>
          </p:cNvPr>
          <p:cNvCxnSpPr>
            <a:cxnSpLocks/>
          </p:cNvCxnSpPr>
          <p:nvPr userDrawn="1"/>
        </p:nvCxnSpPr>
        <p:spPr>
          <a:xfrm>
            <a:off x="219075" y="6176963"/>
            <a:ext cx="116967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2B2ADC5-7002-4C2C-B999-F6F3B52EF574}"/>
              </a:ext>
            </a:extLst>
          </p:cNvPr>
          <p:cNvSpPr txBox="1"/>
          <p:nvPr userDrawn="1"/>
        </p:nvSpPr>
        <p:spPr>
          <a:xfrm>
            <a:off x="3943928" y="683491"/>
            <a:ext cx="472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8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D816668-11AD-453A-84B9-91FFACD5A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" t="13815" r="1463" b="9645"/>
          <a:stretch/>
        </p:blipFill>
        <p:spPr>
          <a:xfrm>
            <a:off x="333375" y="6319046"/>
            <a:ext cx="1674019" cy="43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47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4" r:id="rId2"/>
    <p:sldLayoutId id="2147483665" r:id="rId3"/>
    <p:sldLayoutId id="2147483661" r:id="rId4"/>
    <p:sldLayoutId id="2147483660" r:id="rId5"/>
    <p:sldLayoutId id="2147483662" r:id="rId6"/>
  </p:sldLayoutIdLst>
  <p:hf hdr="0" ftr="0" dt="0"/>
  <p:txStyles>
    <p:titleStyle>
      <a:lvl1pPr algn="l" defTabSz="914377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beej.us/guide/bgne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docs.kernel.org/locking/locktypes.html" TargetMode="External"/><Relationship Id="rId5" Type="http://schemas.openxmlformats.org/officeDocument/2006/relationships/hyperlink" Target="https://www.ibm.com/docs/en/aix/7.3?topic=p-pthread-rwlock-rdlock-pthread-rwlock-tryrdlock-subroutines" TargetMode="External"/><Relationship Id="rId4" Type="http://schemas.openxmlformats.org/officeDocument/2006/relationships/hyperlink" Target="https://docs.oracle.com/cd/E37838_01/html/E61057/sync-124.html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man7.org/linux/man-pages/man3/pthread_rwlockattr_setkind_np.3.htm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kernel.org/locking/locktypes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docs.rs/tokio/latest/tokio/sync/struct.RwLock.html" TargetMode="External"/><Relationship Id="rId4" Type="http://schemas.openxmlformats.org/officeDocument/2006/relationships/hyperlink" Target="https://docs.oracle.com/javase/8/docs/api/java/util/concurrent/locks/ReentrantReadWriteLock.htm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sv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B47DA59-571C-4A78-BDEA-79809B55D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9687" y="1118934"/>
            <a:ext cx="9912626" cy="2387600"/>
          </a:xfrm>
        </p:spPr>
        <p:txBody>
          <a:bodyPr/>
          <a:lstStyle/>
          <a:p>
            <a:r>
              <a:rPr lang="en-US" altLang="ko-KR" sz="6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Lab 5. Simple KVS</a:t>
            </a:r>
            <a:br>
              <a:rPr lang="en-US" altLang="ko-KR" sz="66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altLang="ko-KR" sz="3200" dirty="0">
                <a:solidFill>
                  <a:schemeClr val="dk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SNU System Programming Assignment</a:t>
            </a:r>
            <a:endParaRPr lang="ko-KR" altLang="en-US" dirty="0">
              <a:latin typeface="Tahoma" panose="020B0604030504040204" pitchFamily="34" charset="0"/>
              <a:ea typeface="+mj-ea"/>
              <a:cs typeface="Tahoma" panose="020B0604030504040204" pitchFamily="34" charset="0"/>
            </a:endParaRP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EA9BFC4A-9E4C-4566-A722-6791B1118F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 lang="en-US" altLang="ko-KR" sz="4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Junghan Yoon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T-</a:t>
            </a:r>
            <a:r>
              <a:rPr lang="en-US" altLang="ko-KR" sz="40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Netwoking</a:t>
            </a:r>
            <a:r>
              <a:rPr lang="en-US" altLang="ko-KR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Lab</a:t>
            </a:r>
            <a:endParaRPr lang="ko-KR" altLang="en-US" sz="4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492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A9B27F9-6006-D4DB-15FB-4B11ED864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F882231-1726-08DA-C09D-CF83A44DE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What You Should Do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7F5304C-D6C3-7476-D31E-51F2AF45C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666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1. Implement a basic server</a:t>
            </a:r>
          </a:p>
          <a:p>
            <a:pPr lvl="1"/>
            <a:r>
              <a:rPr lang="en-US" altLang="ko-KR" sz="1800" dirty="0"/>
              <a:t>Use socket APIs</a:t>
            </a:r>
          </a:p>
          <a:p>
            <a:pPr lvl="1"/>
            <a:r>
              <a:rPr lang="en-US" altLang="ko-KR" sz="1800" dirty="0"/>
              <a:t>Use multiple threads</a:t>
            </a:r>
          </a:p>
          <a:p>
            <a:pPr lvl="1"/>
            <a:endParaRPr lang="en-US" altLang="ko-KR" sz="1800" dirty="0"/>
          </a:p>
          <a:p>
            <a:pPr marL="0" indent="0">
              <a:buNone/>
            </a:pPr>
            <a:r>
              <a:rPr lang="en-US" altLang="ko-KR" sz="2000" dirty="0"/>
              <a:t>2. Implement a global hash table and </a:t>
            </a:r>
            <a:r>
              <a:rPr lang="en-US" altLang="ko-KR" sz="2000" dirty="0" err="1"/>
              <a:t>rwlock</a:t>
            </a:r>
            <a:endParaRPr lang="en-US" altLang="ko-KR" sz="2000" dirty="0"/>
          </a:p>
          <a:p>
            <a:pPr lvl="1"/>
            <a:r>
              <a:rPr lang="en-US" altLang="ko-KR" sz="1800" dirty="0"/>
              <a:t>Multiple threads may access at the same time</a:t>
            </a:r>
          </a:p>
          <a:p>
            <a:pPr lvl="1"/>
            <a:r>
              <a:rPr lang="en-US" altLang="ko-KR" sz="1800" dirty="0"/>
              <a:t>Global hash table uses </a:t>
            </a:r>
            <a:r>
              <a:rPr lang="en-US" altLang="ko-KR" sz="1800" dirty="0" err="1"/>
              <a:t>rwlock</a:t>
            </a:r>
            <a:r>
              <a:rPr lang="en-US" altLang="ko-KR" sz="1800" dirty="0"/>
              <a:t> library</a:t>
            </a:r>
          </a:p>
          <a:p>
            <a:pPr lvl="1"/>
            <a:r>
              <a:rPr lang="en-US" altLang="ko-KR" sz="1800" dirty="0" err="1"/>
              <a:t>rwlock</a:t>
            </a:r>
            <a:r>
              <a:rPr lang="en-US" altLang="ko-KR" sz="1800" dirty="0"/>
              <a:t> should support multiple concurrent readers when there is no writer</a:t>
            </a:r>
          </a:p>
          <a:p>
            <a:endParaRPr lang="en-US" altLang="ko-KR" sz="2000" dirty="0"/>
          </a:p>
          <a:p>
            <a:r>
              <a:rPr lang="en-US" altLang="ko-KR" sz="2000" dirty="0"/>
              <a:t>Reference for socket programming in C:</a:t>
            </a: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3"/>
              </a:rPr>
              <a:t>https://beej.us/guide/bgnet/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2000" dirty="0"/>
              <a:t>Reference for </a:t>
            </a:r>
            <a:r>
              <a:rPr lang="en-US" altLang="ko-KR" sz="2000" dirty="0" err="1"/>
              <a:t>rwlock</a:t>
            </a:r>
            <a:r>
              <a:rPr lang="en-US" altLang="ko-KR" sz="2000" dirty="0"/>
              <a:t>:</a:t>
            </a: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4"/>
              </a:rPr>
              <a:t>https://docs.oracle.com/cd/E37838_01/html/E61057/sync-124.html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5"/>
              </a:rPr>
              <a:t>https://www.ibm.com/docs/en/aix/7.3?topic=p-pthread-rwlock-rdlock-pthread-rwlock-tryrdlock-subroutines</a:t>
            </a:r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r>
              <a:rPr lang="en-US" altLang="ko-KR" sz="1800" b="0" dirty="0">
                <a:solidFill>
                  <a:srgbClr val="CCCCCC"/>
                </a:solidFill>
                <a:effectLst/>
                <a:latin typeface="Consolas" panose="020B0609020204030204" pitchFamily="49" charset="0"/>
                <a:hlinkClick r:id="rId6"/>
              </a:rPr>
              <a:t>https://docs.kernel.org/locking/locktypes.html</a:t>
            </a:r>
            <a:endParaRPr lang="en-US" altLang="ko-KR" sz="18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lvl="1"/>
            <a:endParaRPr lang="en-US" altLang="ko-KR" sz="1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lvl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41524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52487"/>
          </a:xfrm>
        </p:spPr>
        <p:txBody>
          <a:bodyPr/>
          <a:lstStyle/>
          <a:p>
            <a:r>
              <a:rPr lang="en-US" altLang="ko-KR" dirty="0"/>
              <a:t>Background 1:</a:t>
            </a:r>
            <a:br>
              <a:rPr lang="en-US" altLang="ko-KR" dirty="0"/>
            </a:br>
            <a:r>
              <a:rPr lang="en-US" altLang="ko-KR" dirty="0"/>
              <a:t>Basic</a:t>
            </a:r>
            <a:r>
              <a:rPr lang="ko-KR" altLang="en-US" dirty="0"/>
              <a:t> </a:t>
            </a:r>
            <a:r>
              <a:rPr lang="en-US" altLang="ko-KR" dirty="0"/>
              <a:t>Server/Client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4474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</a:t>
            </a:fld>
            <a:r>
              <a:rPr lang="en-US" altLang="ko-KR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What is the Client-Server Model?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 dirty="0"/>
              <a:t>Definition</a:t>
            </a:r>
            <a:r>
              <a:rPr lang="en-US" altLang="ko-KR" dirty="0"/>
              <a:t>: A distributed computing architecture where a </a:t>
            </a:r>
            <a:r>
              <a:rPr lang="en-US" altLang="ko-KR" b="1" dirty="0"/>
              <a:t>client</a:t>
            </a:r>
            <a:r>
              <a:rPr lang="en-US" altLang="ko-KR" dirty="0"/>
              <a:t> requests services, and a </a:t>
            </a:r>
            <a:r>
              <a:rPr lang="en-US" altLang="ko-KR" b="1" dirty="0"/>
              <a:t>server</a:t>
            </a:r>
            <a:r>
              <a:rPr lang="en-US" altLang="ko-KR" dirty="0"/>
              <a:t> provides them.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b="1" dirty="0"/>
              <a:t>Structure</a:t>
            </a:r>
            <a:r>
              <a:rPr lang="en-US" altLang="ko-KR" dirty="0"/>
              <a:t>: Typically involves multiple clients connecting to a centralized server.</a:t>
            </a:r>
            <a:endParaRPr lang="en-US" altLang="ko-KR" dirty="0">
              <a:ea typeface="Tahoma" panose="020B0604030504040204" pitchFamily="34" charset="0"/>
            </a:endParaRPr>
          </a:p>
        </p:txBody>
      </p:sp>
      <p:cxnSp>
        <p:nvCxnSpPr>
          <p:cNvPr id="9" name="직선 화살표 연결선 8"/>
          <p:cNvCxnSpPr>
            <a:cxnSpLocks/>
          </p:cNvCxnSpPr>
          <p:nvPr/>
        </p:nvCxnSpPr>
        <p:spPr>
          <a:xfrm>
            <a:off x="4074850" y="3032530"/>
            <a:ext cx="1960683" cy="441697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11" name="TextBox 10"/>
          <p:cNvSpPr txBox="1"/>
          <p:nvPr/>
        </p:nvSpPr>
        <p:spPr>
          <a:xfrm rot="740222">
            <a:off x="4303631" y="2955646"/>
            <a:ext cx="171886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Request for Service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cxnSp>
        <p:nvCxnSpPr>
          <p:cNvPr id="19" name="직선 화살표 연결선 18"/>
          <p:cNvCxnSpPr>
            <a:cxnSpLocks/>
          </p:cNvCxnSpPr>
          <p:nvPr/>
        </p:nvCxnSpPr>
        <p:spPr>
          <a:xfrm flipH="1" flipV="1">
            <a:off x="4074850" y="3268759"/>
            <a:ext cx="1960683" cy="41093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20" name="TextBox 19"/>
          <p:cNvSpPr txBox="1"/>
          <p:nvPr/>
        </p:nvSpPr>
        <p:spPr>
          <a:xfrm rot="705528">
            <a:off x="4423130" y="3513088"/>
            <a:ext cx="9909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Response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1026" name="Picture 2" descr="Web Server Png">
            <a:extLst>
              <a:ext uri="{FF2B5EF4-FFF2-40B4-BE49-F238E27FC236}">
                <a16:creationId xmlns:a16="http://schemas.microsoft.com/office/drawing/2014/main" id="{7C9E08E9-2681-40F2-BBC1-0C10F6E61E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019" y="2828134"/>
            <a:ext cx="1386376" cy="1386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aptop icon">
            <a:extLst>
              <a:ext uri="{FF2B5EF4-FFF2-40B4-BE49-F238E27FC236}">
                <a16:creationId xmlns:a16="http://schemas.microsoft.com/office/drawing/2014/main" id="{F1451363-2A65-430B-A4DD-E1F3ED038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7323" y="2585374"/>
            <a:ext cx="894312" cy="8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martphone-icon - GeoPoll">
            <a:extLst>
              <a:ext uri="{FF2B5EF4-FFF2-40B4-BE49-F238E27FC236}">
                <a16:creationId xmlns:a16="http://schemas.microsoft.com/office/drawing/2014/main" id="{8DFC68A7-4795-4225-BD49-79CA0E0C2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658" y="5587947"/>
            <a:ext cx="611819" cy="61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D97A4FC7-6B5C-42C4-88AA-A9CF8B594760}"/>
              </a:ext>
            </a:extLst>
          </p:cNvPr>
          <p:cNvCxnSpPr>
            <a:cxnSpLocks/>
          </p:cNvCxnSpPr>
          <p:nvPr/>
        </p:nvCxnSpPr>
        <p:spPr>
          <a:xfrm flipV="1">
            <a:off x="4118654" y="4111362"/>
            <a:ext cx="1916879" cy="380179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30AA69A-5C00-4279-A1DF-0F1AF1C51265}"/>
              </a:ext>
            </a:extLst>
          </p:cNvPr>
          <p:cNvCxnSpPr>
            <a:cxnSpLocks/>
          </p:cNvCxnSpPr>
          <p:nvPr/>
        </p:nvCxnSpPr>
        <p:spPr>
          <a:xfrm flipH="1">
            <a:off x="4109776" y="4308927"/>
            <a:ext cx="1977346" cy="403978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pic>
        <p:nvPicPr>
          <p:cNvPr id="36" name="Picture 4" descr="Laptop icon">
            <a:extLst>
              <a:ext uri="{FF2B5EF4-FFF2-40B4-BE49-F238E27FC236}">
                <a16:creationId xmlns:a16="http://schemas.microsoft.com/office/drawing/2014/main" id="{AE006A5F-9F26-434A-BDDC-F6A312540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53" y="4411773"/>
            <a:ext cx="894312" cy="894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D342316-82E8-4CB6-A983-937F29F980B0}"/>
              </a:ext>
            </a:extLst>
          </p:cNvPr>
          <p:cNvCxnSpPr>
            <a:cxnSpLocks/>
          </p:cNvCxnSpPr>
          <p:nvPr/>
        </p:nvCxnSpPr>
        <p:spPr>
          <a:xfrm flipV="1">
            <a:off x="5604477" y="4429994"/>
            <a:ext cx="1058189" cy="944896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BEC0056-151D-46D1-8780-A8053AD8EDD8}"/>
              </a:ext>
            </a:extLst>
          </p:cNvPr>
          <p:cNvCxnSpPr>
            <a:cxnSpLocks/>
          </p:cNvCxnSpPr>
          <p:nvPr/>
        </p:nvCxnSpPr>
        <p:spPr>
          <a:xfrm flipH="1">
            <a:off x="5797118" y="4583804"/>
            <a:ext cx="1051350" cy="952424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A3E193-5F21-8F2B-9F38-027E4AE8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C7BF8A-C7C0-E8A7-6725-2B8AF6A31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Programmer’s View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49E1E7-34A1-ADF6-6FC4-F278A1782C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5241043"/>
            <a:ext cx="11369963" cy="839082"/>
          </a:xfrm>
        </p:spPr>
        <p:txBody>
          <a:bodyPr/>
          <a:lstStyle/>
          <a:p>
            <a:r>
              <a:rPr lang="en-US" altLang="ko-KR" dirty="0"/>
              <a:t>Both client and server use socket interface!</a:t>
            </a:r>
          </a:p>
          <a:p>
            <a:r>
              <a:rPr lang="en-US" altLang="ko-KR" dirty="0"/>
              <a:t>Not only for TCP, but also for UDP</a:t>
            </a:r>
            <a:endParaRPr lang="ko-KR" alt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138758B7-E04E-40D3-8568-835F0D777995}"/>
              </a:ext>
            </a:extLst>
          </p:cNvPr>
          <p:cNvGrpSpPr/>
          <p:nvPr/>
        </p:nvGrpSpPr>
        <p:grpSpPr>
          <a:xfrm>
            <a:off x="3134679" y="1254275"/>
            <a:ext cx="5801707" cy="3781911"/>
            <a:chOff x="1632735" y="2204185"/>
            <a:chExt cx="5801707" cy="3781911"/>
          </a:xfrm>
        </p:grpSpPr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D2CEEF0D-B442-435F-B932-F6BE4D2A13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635" y="2531696"/>
              <a:ext cx="1447800" cy="28194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27" name="Rectangle 25">
              <a:extLst>
                <a:ext uri="{FF2B5EF4-FFF2-40B4-BE49-F238E27FC236}">
                  <a16:creationId xmlns:a16="http://schemas.microsoft.com/office/drawing/2014/main" id="{8A68C728-232A-4201-BEAB-758B9EB447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47535" y="2531696"/>
              <a:ext cx="1447800" cy="281940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28" name="Rectangle 3">
              <a:extLst>
                <a:ext uri="{FF2B5EF4-FFF2-40B4-BE49-F238E27FC236}">
                  <a16:creationId xmlns:a16="http://schemas.microsoft.com/office/drawing/2014/main" id="{1AB42A02-2B12-4A9E-A64A-0B902CCB43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35984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TCP/IP</a:t>
              </a:r>
            </a:p>
          </p:txBody>
        </p:sp>
        <p:sp>
          <p:nvSpPr>
            <p:cNvPr id="29" name="Line 4">
              <a:extLst>
                <a:ext uri="{FF2B5EF4-FFF2-40B4-BE49-F238E27FC236}">
                  <a16:creationId xmlns:a16="http://schemas.microsoft.com/office/drawing/2014/main" id="{46FE2CE6-9B9F-4C18-BD61-72D7BBC82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3217496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0" name="Line 5">
              <a:extLst>
                <a:ext uri="{FF2B5EF4-FFF2-40B4-BE49-F238E27FC236}">
                  <a16:creationId xmlns:a16="http://schemas.microsoft.com/office/drawing/2014/main" id="{4FF0700E-D7B0-43E7-B4F3-208867392D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4208096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1" name="Rectangle 6">
              <a:extLst>
                <a:ext uri="{FF2B5EF4-FFF2-40B4-BE49-F238E27FC236}">
                  <a16:creationId xmlns:a16="http://schemas.microsoft.com/office/drawing/2014/main" id="{CEB73A2B-17F1-4890-B021-B58D4EBFD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2607896"/>
              <a:ext cx="1284287" cy="609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client</a:t>
              </a:r>
            </a:p>
          </p:txBody>
        </p:sp>
        <p:sp>
          <p:nvSpPr>
            <p:cNvPr id="32" name="Rectangle 7">
              <a:extLst>
                <a:ext uri="{FF2B5EF4-FFF2-40B4-BE49-F238E27FC236}">
                  <a16:creationId xmlns:a16="http://schemas.microsoft.com/office/drawing/2014/main" id="{25F5F8F3-A2B1-46A9-9A75-94793A9CEA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7535" y="45890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Network</a:t>
              </a:r>
            </a:p>
            <a:p>
              <a:pPr algn="ctr"/>
              <a:r>
                <a:rPr lang="en-US" sz="1600" dirty="0">
                  <a:latin typeface="+mn-lt"/>
                </a:rPr>
                <a:t>adapter</a:t>
              </a:r>
            </a:p>
          </p:txBody>
        </p:sp>
        <p:sp>
          <p:nvSpPr>
            <p:cNvPr id="33" name="Line 8">
              <a:extLst>
                <a:ext uri="{FF2B5EF4-FFF2-40B4-BE49-F238E27FC236}">
                  <a16:creationId xmlns:a16="http://schemas.microsoft.com/office/drawing/2014/main" id="{588003BE-6B83-45C5-96D0-6C4C892BB2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85235" y="5198696"/>
              <a:ext cx="12700" cy="431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4" name="AutoShape 9">
              <a:extLst>
                <a:ext uri="{FF2B5EF4-FFF2-40B4-BE49-F238E27FC236}">
                  <a16:creationId xmlns:a16="http://schemas.microsoft.com/office/drawing/2014/main" id="{A829D9EF-8BC0-4C6E-AE92-2F3F19E5C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3235" y="5630496"/>
              <a:ext cx="5448300" cy="355600"/>
            </a:xfrm>
            <a:prstGeom prst="roundRect">
              <a:avLst>
                <a:gd name="adj" fmla="val 16667"/>
              </a:avLst>
            </a:prstGeom>
            <a:solidFill>
              <a:srgbClr val="F1C7C7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Global IP Internet</a:t>
              </a:r>
            </a:p>
          </p:txBody>
        </p:sp>
        <p:sp>
          <p:nvSpPr>
            <p:cNvPr id="35" name="Rectangle 10">
              <a:extLst>
                <a:ext uri="{FF2B5EF4-FFF2-40B4-BE49-F238E27FC236}">
                  <a16:creationId xmlns:a16="http://schemas.microsoft.com/office/drawing/2014/main" id="{B41BD5F8-4EC9-48B6-8C35-E9EECF797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35984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+mn-lt"/>
                </a:rPr>
                <a:t>TCP/IP</a:t>
              </a:r>
            </a:p>
          </p:txBody>
        </p:sp>
        <p:sp>
          <p:nvSpPr>
            <p:cNvPr id="36" name="Line 11">
              <a:extLst>
                <a:ext uri="{FF2B5EF4-FFF2-40B4-BE49-F238E27FC236}">
                  <a16:creationId xmlns:a16="http://schemas.microsoft.com/office/drawing/2014/main" id="{3BFBD087-B2A1-4D45-A3BC-67FD1BA9B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3217496"/>
              <a:ext cx="1587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7" name="Line 12">
              <a:extLst>
                <a:ext uri="{FF2B5EF4-FFF2-40B4-BE49-F238E27FC236}">
                  <a16:creationId xmlns:a16="http://schemas.microsoft.com/office/drawing/2014/main" id="{17721566-5176-45D7-A553-0966389B5E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4208096"/>
              <a:ext cx="1587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38" name="Rectangle 13">
              <a:extLst>
                <a:ext uri="{FF2B5EF4-FFF2-40B4-BE49-F238E27FC236}">
                  <a16:creationId xmlns:a16="http://schemas.microsoft.com/office/drawing/2014/main" id="{ACEF5D24-06E9-48CC-9C9E-3D2DD8B3F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2607896"/>
              <a:ext cx="1284287" cy="609600"/>
            </a:xfrm>
            <a:prstGeom prst="rect">
              <a:avLst/>
            </a:prstGeom>
            <a:solidFill>
              <a:srgbClr val="F6F5BD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+mn-lt"/>
                </a:rPr>
                <a:t>server</a:t>
              </a:r>
            </a:p>
          </p:txBody>
        </p:sp>
        <p:sp>
          <p:nvSpPr>
            <p:cNvPr id="39" name="Rectangle 14">
              <a:extLst>
                <a:ext uri="{FF2B5EF4-FFF2-40B4-BE49-F238E27FC236}">
                  <a16:creationId xmlns:a16="http://schemas.microsoft.com/office/drawing/2014/main" id="{0CD15410-2974-4844-8EE8-1FBE7443B8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3735" y="4589096"/>
              <a:ext cx="1284287" cy="60960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altLang="ko-KR" sz="1600" dirty="0">
                  <a:latin typeface="+mn-lt"/>
                </a:rPr>
                <a:t>Network</a:t>
              </a:r>
            </a:p>
            <a:p>
              <a:pPr algn="ctr"/>
              <a:r>
                <a:rPr lang="en-US" altLang="ko-KR" sz="1600" dirty="0">
                  <a:latin typeface="+mn-lt"/>
                </a:rPr>
                <a:t>adapter</a:t>
              </a:r>
            </a:p>
          </p:txBody>
        </p:sp>
        <p:sp>
          <p:nvSpPr>
            <p:cNvPr id="40" name="Line 15">
              <a:extLst>
                <a:ext uri="{FF2B5EF4-FFF2-40B4-BE49-F238E27FC236}">
                  <a16:creationId xmlns:a16="http://schemas.microsoft.com/office/drawing/2014/main" id="{14F8EADD-52F7-4E19-A77E-D8263B4CC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09535" y="5198696"/>
              <a:ext cx="0" cy="4191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EA9A1DB-2D92-425D-AF51-F119959A7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7393" y="2204185"/>
              <a:ext cx="1863011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Internet client host</a:t>
              </a:r>
            </a:p>
          </p:txBody>
        </p:sp>
        <p:sp>
          <p:nvSpPr>
            <p:cNvPr id="42" name="Text Box 17">
              <a:extLst>
                <a:ext uri="{FF2B5EF4-FFF2-40B4-BE49-F238E27FC236}">
                  <a16:creationId xmlns:a16="http://schemas.microsoft.com/office/drawing/2014/main" id="{99B93462-391B-4FC5-A92C-26FD44CE45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78457" y="2204185"/>
              <a:ext cx="1955985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</a:rPr>
                <a:t>Internet server host</a:t>
              </a:r>
            </a:p>
          </p:txBody>
        </p:sp>
        <p:sp>
          <p:nvSpPr>
            <p:cNvPr id="43" name="Text Box 20">
              <a:extLst>
                <a:ext uri="{FF2B5EF4-FFF2-40B4-BE49-F238E27FC236}">
                  <a16:creationId xmlns:a16="http://schemas.microsoft.com/office/drawing/2014/main" id="{B83F45AF-7614-4F18-A383-6FB3F731B2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5889" y="2745523"/>
              <a:ext cx="99726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user code</a:t>
              </a:r>
            </a:p>
          </p:txBody>
        </p:sp>
        <p:sp>
          <p:nvSpPr>
            <p:cNvPr id="44" name="Text Box 21">
              <a:extLst>
                <a:ext uri="{FF2B5EF4-FFF2-40B4-BE49-F238E27FC236}">
                  <a16:creationId xmlns:a16="http://schemas.microsoft.com/office/drawing/2014/main" id="{4A6CAAF2-5AF5-4A6B-8D0A-8D4F887D5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98239" y="3734535"/>
              <a:ext cx="1152560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kernel code</a:t>
              </a:r>
            </a:p>
          </p:txBody>
        </p:sp>
        <p:sp>
          <p:nvSpPr>
            <p:cNvPr id="45" name="Line 23">
              <a:extLst>
                <a:ext uri="{FF2B5EF4-FFF2-40B4-BE49-F238E27FC236}">
                  <a16:creationId xmlns:a16="http://schemas.microsoft.com/office/drawing/2014/main" id="{0081570C-8D89-4188-8816-EE3D647BC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735" y="3382596"/>
              <a:ext cx="5757200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6" name="Line 26">
              <a:extLst>
                <a:ext uri="{FF2B5EF4-FFF2-40B4-BE49-F238E27FC236}">
                  <a16:creationId xmlns:a16="http://schemas.microsoft.com/office/drawing/2014/main" id="{FE9B195D-0A31-4394-AE7C-39300CF630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735" y="4385896"/>
              <a:ext cx="5761596" cy="0"/>
            </a:xfrm>
            <a:prstGeom prst="line">
              <a:avLst/>
            </a:prstGeom>
            <a:noFill/>
            <a:ln w="19050">
              <a:solidFill>
                <a:srgbClr val="C00000"/>
              </a:solidFill>
              <a:prstDash val="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sz="1600" dirty="0">
                <a:latin typeface="+mn-lt"/>
              </a:endParaRPr>
            </a:p>
          </p:txBody>
        </p:sp>
        <p:sp>
          <p:nvSpPr>
            <p:cNvPr id="47" name="Text Box 18">
              <a:extLst>
                <a:ext uri="{FF2B5EF4-FFF2-40B4-BE49-F238E27FC236}">
                  <a16:creationId xmlns:a16="http://schemas.microsoft.com/office/drawing/2014/main" id="{8683941E-AA48-441C-B550-E4D3D2958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3182" y="3086648"/>
              <a:ext cx="1582676" cy="5847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sockets interface</a:t>
              </a:r>
            </a:p>
            <a:p>
              <a:pPr algn="ctr"/>
              <a:r>
                <a:rPr lang="en-US" sz="1600" dirty="0">
                  <a:latin typeface="+mn-lt"/>
                </a:rPr>
                <a:t>(system calls)</a:t>
              </a: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439111BC-22A0-4FBE-B777-C873F13B87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1073" y="4098573"/>
              <a:ext cx="1766894" cy="584775"/>
            </a:xfrm>
            <a:prstGeom prst="rect">
              <a:avLst/>
            </a:prstGeom>
            <a:solidFill>
              <a:schemeClr val="bg1"/>
            </a:solidFill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600" dirty="0">
                  <a:latin typeface="+mn-lt"/>
                </a:rPr>
                <a:t>hardware interface</a:t>
              </a:r>
            </a:p>
            <a:p>
              <a:pPr algn="ctr"/>
              <a:r>
                <a:rPr lang="en-US" sz="1600" dirty="0">
                  <a:latin typeface="+mn-lt"/>
                </a:rPr>
                <a:t>(interrupts)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A4605FA-D372-4735-BC77-05EBFF617236}"/>
              </a:ext>
            </a:extLst>
          </p:cNvPr>
          <p:cNvSpPr txBox="1"/>
          <p:nvPr/>
        </p:nvSpPr>
        <p:spPr>
          <a:xfrm>
            <a:off x="9777046" y="5369736"/>
            <a:ext cx="12106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TCP? UDP?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5510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3">
            <a:extLst>
              <a:ext uri="{FF2B5EF4-FFF2-40B4-BE49-F238E27FC236}">
                <a16:creationId xmlns:a16="http://schemas.microsoft.com/office/drawing/2014/main" id="{4DE30DE8-CD1C-4B78-BB7B-16C6A93D019F}"/>
              </a:ext>
            </a:extLst>
          </p:cNvPr>
          <p:cNvSpPr/>
          <p:nvPr/>
        </p:nvSpPr>
        <p:spPr bwMode="auto">
          <a:xfrm>
            <a:off x="3695727" y="3971220"/>
            <a:ext cx="5704199" cy="1586182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r"/>
            <a:r>
              <a:rPr lang="en-US" sz="1800" dirty="0"/>
              <a:t>3</a:t>
            </a:r>
            <a:r>
              <a:rPr lang="en-US" sz="1800" i="1" dirty="0"/>
              <a:t>. Exchange data</a:t>
            </a:r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270C2C02-7E60-4435-9966-9A30661C7F83}"/>
              </a:ext>
            </a:extLst>
          </p:cNvPr>
          <p:cNvGrpSpPr/>
          <p:nvPr/>
        </p:nvGrpSpPr>
        <p:grpSpPr>
          <a:xfrm>
            <a:off x="2846728" y="4037588"/>
            <a:ext cx="6400800" cy="1371600"/>
            <a:chOff x="457200" y="4132968"/>
            <a:chExt cx="6400800" cy="1371600"/>
          </a:xfrm>
        </p:grpSpPr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16CF085F-CDF4-4F45-8373-9BF213E7B2A7}"/>
                </a:ext>
              </a:extLst>
            </p:cNvPr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794249B8-8EAC-48D7-8F3A-74CC4CFFA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61" name="Line 5">
                <a:extLst>
                  <a:ext uri="{FF2B5EF4-FFF2-40B4-BE49-F238E27FC236}">
                    <a16:creationId xmlns:a16="http://schemas.microsoft.com/office/drawing/2014/main" id="{8402E16B-8F12-4D00-A969-70839F39F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EDC8A145-29A9-4B77-94FD-484441532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3" name="Line 7">
                <a:extLst>
                  <a:ext uri="{FF2B5EF4-FFF2-40B4-BE49-F238E27FC236}">
                    <a16:creationId xmlns:a16="http://schemas.microsoft.com/office/drawing/2014/main" id="{04954334-31AF-4524-B654-C1B78AA3D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56" name="Group 8">
              <a:extLst>
                <a:ext uri="{FF2B5EF4-FFF2-40B4-BE49-F238E27FC236}">
                  <a16:creationId xmlns:a16="http://schemas.microsoft.com/office/drawing/2014/main" id="{5AAE8DFA-6B46-481C-945E-A00C26257F7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58" name="Line 9">
                <a:extLst>
                  <a:ext uri="{FF2B5EF4-FFF2-40B4-BE49-F238E27FC236}">
                    <a16:creationId xmlns:a16="http://schemas.microsoft.com/office/drawing/2014/main" id="{33F25A27-AF52-4027-B5C8-7655DF4A5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9" name="Line 10">
                <a:extLst>
                  <a:ext uri="{FF2B5EF4-FFF2-40B4-BE49-F238E27FC236}">
                    <a16:creationId xmlns:a16="http://schemas.microsoft.com/office/drawing/2014/main" id="{7C9CFC03-4501-4AFF-B5BC-97C9EC598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0" name="Line 11">
                <a:extLst>
                  <a:ext uri="{FF2B5EF4-FFF2-40B4-BE49-F238E27FC236}">
                    <a16:creationId xmlns:a16="http://schemas.microsoft.com/office/drawing/2014/main" id="{11192CD9-37CA-4EF6-A122-E6F79D349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936D1CBF-97E1-4E20-86AB-E95A88D7D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180C20-9FEA-4CE6-8F56-566DAEDB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0657F8-34B2-4263-A68F-E3A1C321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Socket Interface</a:t>
            </a:r>
            <a:endParaRPr lang="ko-KR" altLang="en-US" dirty="0"/>
          </a:p>
        </p:txBody>
      </p:sp>
      <p:sp>
        <p:nvSpPr>
          <p:cNvPr id="5" name="Rounded Rectangle 65">
            <a:extLst>
              <a:ext uri="{FF2B5EF4-FFF2-40B4-BE49-F238E27FC236}">
                <a16:creationId xmlns:a16="http://schemas.microsoft.com/office/drawing/2014/main" id="{0CBD1E03-F962-47C8-BFA2-60460E291FB1}"/>
              </a:ext>
            </a:extLst>
          </p:cNvPr>
          <p:cNvSpPr/>
          <p:nvPr/>
        </p:nvSpPr>
        <p:spPr bwMode="auto">
          <a:xfrm>
            <a:off x="7176035" y="5581678"/>
            <a:ext cx="1960166" cy="1179048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ctr" anchorCtr="0"/>
          <a:lstStyle/>
          <a:p>
            <a:pPr algn="r"/>
            <a:r>
              <a:rPr lang="en-US" sz="1800" dirty="0"/>
              <a:t>5</a:t>
            </a:r>
            <a:r>
              <a:rPr lang="en-US" sz="1800" i="1" dirty="0"/>
              <a:t>. Drop client</a:t>
            </a:r>
          </a:p>
        </p:txBody>
      </p:sp>
      <p:sp>
        <p:nvSpPr>
          <p:cNvPr id="6" name="Rounded Rectangle 64">
            <a:extLst>
              <a:ext uri="{FF2B5EF4-FFF2-40B4-BE49-F238E27FC236}">
                <a16:creationId xmlns:a16="http://schemas.microsoft.com/office/drawing/2014/main" id="{EAAC0269-9A63-4135-84CC-6EBA8A2C5B72}"/>
              </a:ext>
            </a:extLst>
          </p:cNvPr>
          <p:cNvSpPr/>
          <p:nvPr/>
        </p:nvSpPr>
        <p:spPr bwMode="auto">
          <a:xfrm>
            <a:off x="4091126" y="5564820"/>
            <a:ext cx="2308256" cy="951431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bIns="0" rtlCol="0" anchor="b" anchorCtr="0"/>
          <a:lstStyle/>
          <a:p>
            <a:pPr algn="ctr"/>
            <a:r>
              <a:rPr lang="en-US" sz="1800" dirty="0"/>
              <a:t>4</a:t>
            </a:r>
            <a:r>
              <a:rPr lang="en-US" sz="1800" i="1" dirty="0"/>
              <a:t>. Disconnect client</a:t>
            </a:r>
          </a:p>
        </p:txBody>
      </p:sp>
      <p:sp>
        <p:nvSpPr>
          <p:cNvPr id="8" name="Rounded Rectangle 62">
            <a:extLst>
              <a:ext uri="{FF2B5EF4-FFF2-40B4-BE49-F238E27FC236}">
                <a16:creationId xmlns:a16="http://schemas.microsoft.com/office/drawing/2014/main" id="{8601C236-87F6-48E6-A8AD-E005BB97BA50}"/>
              </a:ext>
            </a:extLst>
          </p:cNvPr>
          <p:cNvSpPr/>
          <p:nvPr/>
        </p:nvSpPr>
        <p:spPr bwMode="auto">
          <a:xfrm>
            <a:off x="4167326" y="131326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2</a:t>
            </a:r>
            <a:r>
              <a:rPr lang="en-US" sz="1800" i="1" dirty="0"/>
              <a:t>. Start client</a:t>
            </a:r>
          </a:p>
        </p:txBody>
      </p:sp>
      <p:sp>
        <p:nvSpPr>
          <p:cNvPr id="9" name="Rounded Rectangle 1">
            <a:extLst>
              <a:ext uri="{FF2B5EF4-FFF2-40B4-BE49-F238E27FC236}">
                <a16:creationId xmlns:a16="http://schemas.microsoft.com/office/drawing/2014/main" id="{66D0C922-B61B-4B31-AD3A-8A4AA509CB07}"/>
              </a:ext>
            </a:extLst>
          </p:cNvPr>
          <p:cNvSpPr/>
          <p:nvPr/>
        </p:nvSpPr>
        <p:spPr bwMode="auto">
          <a:xfrm>
            <a:off x="6986726" y="131326"/>
            <a:ext cx="2057400" cy="395172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tIns="0" rtlCol="0" anchor="t" anchorCtr="0"/>
          <a:lstStyle/>
          <a:p>
            <a:pPr algn="ctr"/>
            <a:r>
              <a:rPr lang="en-US" sz="1800" dirty="0"/>
              <a:t>1</a:t>
            </a:r>
            <a:r>
              <a:rPr lang="en-US" sz="1800" i="1" dirty="0"/>
              <a:t>. Start server</a:t>
            </a:r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3DF05F15-8072-43EB-B3FC-D51E2A9E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926" y="355461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A08AF867-429B-49C7-A37B-DEC2C6B1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0864" y="355461"/>
            <a:ext cx="99367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Server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87A39127-C6FB-4F32-9EB8-0FBDD5702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6" y="1931281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D4D3AF7-351D-4006-A634-123BF2122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18709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D243F9FE-75D0-4432-8D97-87816F9E0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25567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1FFDF83F-4DA2-466C-8D20-B8E11C4C8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32425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9F6BDD1-F9DA-4B39-92D7-7CA3E7A87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726" y="3760081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86C719AF-3DA3-4F1F-ABAA-1064A552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15328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D5EB59B4-4B01-483D-AB01-0FA2B1AE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15328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1AE48E40-BAAB-4BD6-AABB-46D64362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220750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9D7309C7-D80F-4831-AE6A-4645EF67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2882194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listen</a:t>
            </a:r>
          </a:p>
        </p:txBody>
      </p:sp>
      <p:grpSp>
        <p:nvGrpSpPr>
          <p:cNvPr id="22" name="Group 25">
            <a:extLst>
              <a:ext uri="{FF2B5EF4-FFF2-40B4-BE49-F238E27FC236}">
                <a16:creationId xmlns:a16="http://schemas.microsoft.com/office/drawing/2014/main" id="{63498B43-1426-4097-AA9E-D7B227CDE964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928356"/>
            <a:ext cx="4267200" cy="1392238"/>
            <a:chOff x="1296" y="2506"/>
            <a:chExt cx="2688" cy="877"/>
          </a:xfrm>
        </p:grpSpPr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BE533C86-358E-4608-9E8A-00881EC18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999F757F-C83D-4940-B294-0F29B2486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54A20264-8C9D-44E6-9089-896AE64E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3E3DF509-B68B-4C99-B9FD-0E8808402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1B7259DF-03D0-4FE2-91B5-C91F8B6BB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80627679-DB93-40F6-BA80-18F0F031E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195C5E07-B3F4-44AE-9C3C-DFE2C095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F5AA4883-B53B-4D44-9AF1-7DCF83F2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D18C1956-578F-464A-8821-FAB143329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A5B8237B-FCBF-45D7-AFBE-B77078ACC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33" name="Text Box 36">
            <a:extLst>
              <a:ext uri="{FF2B5EF4-FFF2-40B4-BE49-F238E27FC236}">
                <a16:creationId xmlns:a16="http://schemas.microsoft.com/office/drawing/2014/main" id="{F2CCCAA2-A439-4D51-A4E1-AFD0EFF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28" y="3150481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34" name="Group 37">
            <a:extLst>
              <a:ext uri="{FF2B5EF4-FFF2-40B4-BE49-F238E27FC236}">
                <a16:creationId xmlns:a16="http://schemas.microsoft.com/office/drawing/2014/main" id="{7297488F-F16C-4FE1-B1E6-124165147430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773051"/>
            <a:ext cx="5105400" cy="2911475"/>
            <a:chOff x="1296" y="2400"/>
            <a:chExt cx="3216" cy="1834"/>
          </a:xfrm>
        </p:grpSpPr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7546587C-599F-4668-9F2F-135E9FC48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78AF1981-FE81-4181-8747-B85769F2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35971F51-378B-46DE-8A00-D9C101141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C09B9160-2394-4E0B-9510-54B219C7F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2BF24620-CD19-4072-A1CC-15A321FE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34E1A758-8AA9-4AE1-BD55-3073F1CC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86CAF4AB-45B3-4BFD-BB72-187BFB303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2" name="Text Box 45">
              <a:extLst>
                <a:ext uri="{FF2B5EF4-FFF2-40B4-BE49-F238E27FC236}">
                  <a16:creationId xmlns:a16="http://schemas.microsoft.com/office/drawing/2014/main" id="{16CFF2ED-9813-4B37-AD75-3B3E48744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BE5B45D-25F6-4BC8-8891-E11AE7205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71706A8E-C268-4A7E-B399-321F7D86E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01291363-DF30-45CA-A2A3-F3C305A6B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46" name="Text Box 49">
            <a:extLst>
              <a:ext uri="{FF2B5EF4-FFF2-40B4-BE49-F238E27FC236}">
                <a16:creationId xmlns:a16="http://schemas.microsoft.com/office/drawing/2014/main" id="{5F4C29FF-E3DB-48FF-B096-891A8AF8C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88326" y="4716182"/>
            <a:ext cx="1675459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dirty="0">
                <a:latin typeface="Calibri" pitchFamily="34" charset="0"/>
              </a:rPr>
              <a:t>Await connection</a:t>
            </a:r>
          </a:p>
          <a:p>
            <a:r>
              <a:rPr lang="en-US" sz="1600" dirty="0">
                <a:latin typeface="Calibri" pitchFamily="34" charset="0"/>
              </a:rPr>
              <a:t>request from</a:t>
            </a:r>
          </a:p>
          <a:p>
            <a:r>
              <a:rPr lang="en-US" sz="1600" dirty="0">
                <a:latin typeface="Calibri" pitchFamily="34" charset="0"/>
              </a:rPr>
              <a:t>next client</a:t>
            </a:r>
          </a:p>
        </p:txBody>
      </p:sp>
      <p:sp>
        <p:nvSpPr>
          <p:cNvPr id="47" name="Rectangle 54">
            <a:extLst>
              <a:ext uri="{FF2B5EF4-FFF2-40B4-BE49-F238E27FC236}">
                <a16:creationId xmlns:a16="http://schemas.microsoft.com/office/drawing/2014/main" id="{67109CB3-299C-4143-B683-903D2EFA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35902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48" name="Rectangle 55">
            <a:extLst>
              <a:ext uri="{FF2B5EF4-FFF2-40B4-BE49-F238E27FC236}">
                <a16:creationId xmlns:a16="http://schemas.microsoft.com/office/drawing/2014/main" id="{1428DEAE-2C13-4BA2-BC52-8F9256F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35902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49" name="Line 17">
            <a:extLst>
              <a:ext uri="{FF2B5EF4-FFF2-40B4-BE49-F238E27FC236}">
                <a16:creationId xmlns:a16="http://schemas.microsoft.com/office/drawing/2014/main" id="{B4AE4693-14D4-4030-B823-ED8FE1B54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Rectangle 22">
            <a:extLst>
              <a:ext uri="{FF2B5EF4-FFF2-40B4-BE49-F238E27FC236}">
                <a16:creationId xmlns:a16="http://schemas.microsoft.com/office/drawing/2014/main" id="{D48939B0-8B91-4B22-A4D6-A650317D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51" name="Line 17">
            <a:extLst>
              <a:ext uri="{FF2B5EF4-FFF2-40B4-BE49-F238E27FC236}">
                <a16:creationId xmlns:a16="http://schemas.microsoft.com/office/drawing/2014/main" id="{119C3BA4-8D8E-49A5-9FB1-5CFD5E635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7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Rectangle 22">
            <a:extLst>
              <a:ext uri="{FF2B5EF4-FFF2-40B4-BE49-F238E27FC236}">
                <a16:creationId xmlns:a16="http://schemas.microsoft.com/office/drawing/2014/main" id="{C1E5CD74-9FD4-41C6-AC7C-6AE8C2FC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7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235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5DE29-E071-32AC-DEA3-28B8CC04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CF3BF6-B4EE-3A3B-34FC-84F0EC97C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0B2FC05-0C6F-2456-4CFA-7CBABD83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Basic Server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8A66F1-77D2-E103-5F36-6BB005C2E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1" y="942971"/>
            <a:ext cx="11580607" cy="5140325"/>
          </a:xfrm>
        </p:spPr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socket()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Makes a socket and allocates system resources for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bind()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Binds IP address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and port to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listen()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Creates a connection queue to allow connections from clients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accept()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Retrieves a connection from the connection queue and </a:t>
            </a:r>
            <a:r>
              <a:rPr lang="en-US" altLang="ko-KR" sz="1800" b="1" dirty="0">
                <a:ea typeface="Tahoma" panose="020B0604030504040204" pitchFamily="34" charset="0"/>
              </a:rPr>
              <a:t>returns a socket</a:t>
            </a:r>
            <a:r>
              <a:rPr lang="en-US" altLang="ko-KR" sz="1800" dirty="0">
                <a:ea typeface="Tahoma" panose="020B0604030504040204" pitchFamily="34" charset="0"/>
              </a:rPr>
              <a:t> for an established connection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read() &amp; write()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Next slide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Close the socket and cleans up resources</a:t>
            </a:r>
            <a:endParaRPr lang="en-US" altLang="ko-KR" sz="2400" dirty="0">
              <a:ea typeface="Tahoma" panose="020B0604030504040204" pitchFamily="34" charset="0"/>
            </a:endParaRPr>
          </a:p>
          <a:p>
            <a:pPr lvl="1"/>
            <a:endParaRPr lang="en-US" altLang="ko-KR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26DEA-9D54-491C-8949-56284316896A}"/>
              </a:ext>
            </a:extLst>
          </p:cNvPr>
          <p:cNvSpPr txBox="1"/>
          <p:nvPr/>
        </p:nvSpPr>
        <p:spPr>
          <a:xfrm>
            <a:off x="7874493" y="965530"/>
            <a:ext cx="3035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Socket descriptor,</a:t>
            </a:r>
          </a:p>
          <a:p>
            <a:r>
              <a:rPr lang="en-US" altLang="ko-KR" dirty="0"/>
              <a:t>Socket structure for metadata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C35D30-7C8A-4C86-BF46-1FFEEC0FFAEB}"/>
              </a:ext>
            </a:extLst>
          </p:cNvPr>
          <p:cNvSpPr txBox="1"/>
          <p:nvPr/>
        </p:nvSpPr>
        <p:spPr>
          <a:xfrm>
            <a:off x="7874493" y="2505936"/>
            <a:ext cx="27033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Listen, accept: only for TCP</a:t>
            </a:r>
          </a:p>
          <a:p>
            <a:r>
              <a:rPr lang="en-US" altLang="ko-KR" dirty="0"/>
              <a:t>TCP server has 2 sockets!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B3945-D775-4850-877E-9DCAF53D316E}"/>
              </a:ext>
            </a:extLst>
          </p:cNvPr>
          <p:cNvSpPr txBox="1"/>
          <p:nvPr/>
        </p:nvSpPr>
        <p:spPr>
          <a:xfrm>
            <a:off x="7874493" y="1709821"/>
            <a:ext cx="3138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For this assignment, use 0.0.0.0</a:t>
            </a:r>
          </a:p>
          <a:p>
            <a:r>
              <a:rPr lang="en-US" altLang="ko-KR" dirty="0"/>
              <a:t>for binding server IP address</a:t>
            </a:r>
          </a:p>
        </p:txBody>
      </p:sp>
    </p:spTree>
    <p:extLst>
      <p:ext uri="{BB962C8B-B14F-4D97-AF65-F5344CB8AC3E}">
        <p14:creationId xmlns:p14="http://schemas.microsoft.com/office/powerpoint/2010/main" val="377222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FC598D-6347-4BDC-AB94-8A518B76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69FD51-2CCD-4BBF-BA6D-20BCA2E6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Basic Client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5C472-8F32-4B2B-99FA-CCD378D9F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getaddrinfo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&amp;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freeaddrinfo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Helper function for IP lookup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You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may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use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gethostbyname</a:t>
            </a:r>
            <a:r>
              <a:rPr lang="en-US" altLang="ko-KR" sz="18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 </a:t>
            </a:r>
            <a:r>
              <a:rPr lang="en-US" altLang="ko-KR" sz="1800" dirty="0">
                <a:ea typeface="Tahoma" panose="020B0604030504040204" pitchFamily="34" charset="0"/>
              </a:rPr>
              <a:t>or </a:t>
            </a:r>
            <a:r>
              <a:rPr lang="en-US" altLang="ko-KR" sz="180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gethostbyname_r</a:t>
            </a:r>
            <a:r>
              <a:rPr lang="en-US" altLang="ko-KR" sz="180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()</a:t>
            </a:r>
            <a:endParaRPr lang="en-US" altLang="ko-KR" sz="1800" dirty="0">
              <a:ea typeface="Tahoma" panose="020B0604030504040204" pitchFamily="34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socket()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Makes a socket and allocates system resources for the socket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bind()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Binds IP address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and port to the socket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Usually not used in client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connect()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Creates a connection to the specified </a:t>
            </a:r>
            <a:r>
              <a:rPr lang="en-US" altLang="ko-KR" sz="1800" dirty="0" err="1">
                <a:ea typeface="Tahoma" panose="020B0604030504040204" pitchFamily="34" charset="0"/>
              </a:rPr>
              <a:t>address:port</a:t>
            </a:r>
            <a:r>
              <a:rPr lang="en-US" altLang="ko-KR" sz="1800" dirty="0">
                <a:ea typeface="Tahoma" panose="020B0604030504040204" pitchFamily="34" charset="0"/>
              </a:rPr>
              <a:t> (starts TCP handshake)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read() &amp; write()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Next slide</a:t>
            </a:r>
            <a:endParaRPr lang="en-US" altLang="ko-K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Close the socket and cleans up resources</a:t>
            </a:r>
            <a:endParaRPr lang="en-US" altLang="ko-KR" sz="2400" dirty="0">
              <a:ea typeface="Tahoma" panose="020B0604030504040204" pitchFamily="34" charset="0"/>
            </a:endParaRPr>
          </a:p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5D5727-767B-405A-96FD-229B76A689B4}"/>
              </a:ext>
            </a:extLst>
          </p:cNvPr>
          <p:cNvSpPr txBox="1"/>
          <p:nvPr/>
        </p:nvSpPr>
        <p:spPr>
          <a:xfrm>
            <a:off x="8981637" y="3855517"/>
            <a:ext cx="22979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connect: for TCP</a:t>
            </a:r>
          </a:p>
          <a:p>
            <a:r>
              <a:rPr lang="en-US" altLang="ko-KR" dirty="0"/>
              <a:t>TCP client has 1 socket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2C5EC-AA72-43DA-8666-6B475BBBBCA5}"/>
              </a:ext>
            </a:extLst>
          </p:cNvPr>
          <p:cNvSpPr txBox="1"/>
          <p:nvPr/>
        </p:nvSpPr>
        <p:spPr>
          <a:xfrm>
            <a:off x="7874493" y="2032987"/>
            <a:ext cx="297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Socket descriptor,</a:t>
            </a:r>
          </a:p>
          <a:p>
            <a:r>
              <a:rPr lang="en-US" altLang="ko-KR" dirty="0"/>
              <a:t>Socket structure for metadata</a:t>
            </a:r>
          </a:p>
        </p:txBody>
      </p:sp>
    </p:spTree>
    <p:extLst>
      <p:ext uri="{BB962C8B-B14F-4D97-AF65-F5344CB8AC3E}">
        <p14:creationId xmlns:p14="http://schemas.microsoft.com/office/powerpoint/2010/main" val="16033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5FC598D-6347-4BDC-AB94-8A518B76F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169FD51-2CCD-4BBF-BA6D-20BCA2E6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System Calls for Socket Options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55C472-8F32-4B2B-99FA-CCD378D9F5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setsockopt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level, 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const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getsockopt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level, 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ko-KR" sz="2000" dirty="0"/>
              <a:t>For address/port reuse and timeout setting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level</a:t>
            </a:r>
            <a:r>
              <a:rPr lang="en-US" altLang="ko-KR" sz="2000" dirty="0"/>
              <a:t>: Specifies the protocol layer for the option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SOL_SOCKET	</a:t>
            </a:r>
            <a:r>
              <a:rPr lang="en-US" altLang="ko-KR" sz="1800" dirty="0"/>
              <a:t>: Socket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</a:t>
            </a:r>
            <a:r>
              <a:rPr lang="en-US" altLang="ko-KR" sz="1800" dirty="0"/>
              <a:t>) </a:t>
            </a:r>
            <a:r>
              <a:rPr lang="en-US" altLang="ko-KR" sz="1800" dirty="0">
                <a:sym typeface="Wingdings" panose="05000000000000000000" pitchFamily="2" charset="2"/>
              </a:rPr>
              <a:t></a:t>
            </a:r>
            <a:r>
              <a:rPr lang="en-US" altLang="ko-KR" sz="1800" dirty="0"/>
              <a:t> use this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IPPROTO_TCP	</a:t>
            </a:r>
            <a:r>
              <a:rPr lang="en-US" altLang="ko-KR" sz="1800" dirty="0"/>
              <a:t>: TCP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TCP_NODELAY</a:t>
            </a:r>
            <a:r>
              <a:rPr lang="en-US" altLang="ko-KR" sz="1800" dirty="0"/>
              <a:t>)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IPPROTO_IP	</a:t>
            </a:r>
            <a:r>
              <a:rPr lang="en-US" altLang="ko-KR" sz="1800" dirty="0"/>
              <a:t>: IP layer (e.g.,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IP_TTL</a:t>
            </a:r>
            <a:r>
              <a:rPr lang="en-US" altLang="ko-KR" sz="1800" dirty="0"/>
              <a:t>)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optname</a:t>
            </a:r>
            <a:r>
              <a:rPr lang="en-US" altLang="ko-KR" sz="2000" dirty="0"/>
              <a:t>: 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SO_REUSEADDR, SO_REUSEPORT, SO_RCVTIMEO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optval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optlen</a:t>
            </a:r>
            <a:r>
              <a:rPr lang="en-US" altLang="ko-KR" sz="2000" dirty="0"/>
              <a:t>: different by </a:t>
            </a:r>
            <a:r>
              <a:rPr lang="en-US" altLang="ko-KR" sz="2000" dirty="0" err="1"/>
              <a:t>optname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SO_REUSEADDR, SO_REUSEPORT	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int value</a:t>
            </a:r>
            <a:r>
              <a:rPr lang="en-US" altLang="ko-KR" sz="1800" dirty="0"/>
              <a:t>,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sz="1800" dirty="0"/>
              <a:t> means on /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ko-KR" sz="1800" dirty="0"/>
              <a:t> means off</a:t>
            </a:r>
          </a:p>
          <a:p>
            <a:pPr lvl="1"/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SO_RCVTIMEO			</a:t>
            </a:r>
            <a:r>
              <a:rPr lang="en-US" altLang="ko-KR" sz="1800" dirty="0"/>
              <a:t>: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timeval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to</a:t>
            </a:r>
            <a:r>
              <a:rPr lang="en-US" altLang="ko-KR" sz="1800" dirty="0"/>
              <a:t>, set  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to.tv_sec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TIMEOUT</a:t>
            </a:r>
            <a:r>
              <a:rPr lang="en-US" altLang="ko-KR" sz="1800" dirty="0"/>
              <a:t>;</a:t>
            </a:r>
          </a:p>
          <a:p>
            <a:r>
              <a:rPr lang="en-US" altLang="ko-KR" sz="2000" dirty="0"/>
              <a:t>You can check out its usage in skeleton code!</a:t>
            </a:r>
          </a:p>
        </p:txBody>
      </p:sp>
    </p:spTree>
    <p:extLst>
      <p:ext uri="{BB962C8B-B14F-4D97-AF65-F5344CB8AC3E}">
        <p14:creationId xmlns:p14="http://schemas.microsoft.com/office/powerpoint/2010/main" val="269046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8252E5-D354-4FA1-A32D-89782796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32BF8A-69F0-4691-BFF1-48B3C6BA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read()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98AE37-5A85-49D2-A77C-F18A89476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read(int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nbytes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# of bytes read ( &gt; 0)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-1 (error, you should check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1800" dirty="0">
                <a:ea typeface="Tahoma" panose="020B0604030504040204" pitchFamily="34" charset="0"/>
              </a:rPr>
              <a:t>)</a:t>
            </a:r>
          </a:p>
          <a:p>
            <a:pPr lvl="2"/>
            <a:r>
              <a:rPr lang="en-US" altLang="ko-KR" sz="1600" dirty="0">
                <a:ea typeface="Tahoma" panose="020B0604030504040204" pitchFamily="34" charset="0"/>
              </a:rPr>
              <a:t>No bytes read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0 (closed by the peer)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EAGAIN, EWOULDBLOCK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Nothing to read from the TCP socket </a:t>
            </a:r>
            <a:r>
              <a:rPr lang="en-US" altLang="ko-KR" sz="1800" dirty="0" err="1">
                <a:ea typeface="Tahoma" panose="020B0604030504040204" pitchFamily="34" charset="0"/>
              </a:rPr>
              <a:t>recv</a:t>
            </a:r>
            <a:r>
              <a:rPr lang="en-US" altLang="ko-KR" sz="1800" dirty="0">
                <a:ea typeface="Tahoma" panose="020B0604030504040204" pitchFamily="34" charset="0"/>
              </a:rPr>
              <a:t> buffer, try later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EINTR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Failed due to interrupt, try again right now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ECONNRESET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abruptly reset the connection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23991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8252E5-D354-4FA1-A32D-89782796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11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E32BF8A-69F0-4691-BFF1-48B3C6BA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write()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98AE37-5A85-49D2-A77C-F18A89476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write(int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void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nbytes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altLang="ko-KR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Returns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# of bytes wrote ( &gt; 0)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-1 (error, you should check </a:t>
            </a:r>
            <a:r>
              <a:rPr lang="en-US" altLang="ko-K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1800" dirty="0">
                <a:ea typeface="Tahoma" panose="020B0604030504040204" pitchFamily="34" charset="0"/>
              </a:rPr>
              <a:t>)</a:t>
            </a:r>
          </a:p>
          <a:p>
            <a:pPr lvl="2"/>
            <a:r>
              <a:rPr lang="en-US" altLang="ko-KR" sz="1600" dirty="0">
                <a:ea typeface="Tahoma" panose="020B0604030504040204" pitchFamily="34" charset="0"/>
              </a:rPr>
              <a:t>No bytes wrote</a:t>
            </a:r>
          </a:p>
          <a:p>
            <a:pPr lvl="1"/>
            <a:endParaRPr lang="en-US" altLang="ko-KR" sz="1800" dirty="0">
              <a:ea typeface="Tahoma" panose="020B0604030504040204" pitchFamily="34" charset="0"/>
            </a:endParaRP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EAGAIN, EWOULDBLOCK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TCP socket send buffer is full, try later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EINTR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Failed due to interrupt, try again right now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ECONNRESET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abruptly reset the connection</a:t>
            </a:r>
          </a:p>
          <a:p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errno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EPIPE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The peer closed the connection (since SIGPIPE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kills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the</a:t>
            </a:r>
            <a:r>
              <a:rPr lang="ko-KR" altLang="en-US" sz="1800" dirty="0">
                <a:ea typeface="Tahoma" panose="020B0604030504040204" pitchFamily="34" charset="0"/>
              </a:rPr>
              <a:t> </a:t>
            </a:r>
            <a:r>
              <a:rPr lang="en-US" altLang="ko-KR" sz="1800" dirty="0">
                <a:ea typeface="Tahoma" panose="020B0604030504040204" pitchFamily="34" charset="0"/>
              </a:rPr>
              <a:t>process first, you will not see this error)</a:t>
            </a: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7013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52487"/>
          </a:xfrm>
        </p:spPr>
        <p:txBody>
          <a:bodyPr/>
          <a:lstStyle/>
          <a:p>
            <a:r>
              <a:rPr lang="en-US" altLang="ko-KR" dirty="0"/>
              <a:t>Background 2:</a:t>
            </a:r>
            <a:br>
              <a:rPr lang="en-US" altLang="ko-KR" dirty="0"/>
            </a:br>
            <a:r>
              <a:rPr lang="en-US" altLang="ko-KR" dirty="0"/>
              <a:t>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58134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6779789-5CC4-4909-983C-EB5E7DBE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4022C9B-03D3-4943-9DF6-8AE62D0C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Spin Lock vs. Mutex Lock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8C6C2D-0B86-48FF-ADF1-01060E6E47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Spin Lock</a:t>
            </a:r>
          </a:p>
          <a:p>
            <a:pPr lvl="1"/>
            <a:r>
              <a:rPr lang="en-US" altLang="ko-KR" dirty="0"/>
              <a:t>Continuously checks if the lock is available while consuming CPU cycles (busy-waiting)</a:t>
            </a:r>
          </a:p>
          <a:p>
            <a:pPr lvl="1"/>
            <a:r>
              <a:rPr lang="en-US" altLang="ko-KR" dirty="0"/>
              <a:t>Optimized for short wait times and multi-core environments</a:t>
            </a:r>
          </a:p>
          <a:p>
            <a:r>
              <a:rPr lang="en-US" altLang="ko-KR" dirty="0"/>
              <a:t>Mutex Lock</a:t>
            </a:r>
          </a:p>
          <a:p>
            <a:pPr lvl="1"/>
            <a:r>
              <a:rPr lang="en-US" altLang="ko-KR" dirty="0"/>
              <a:t>Puts the waiting thread to sleep, releasing the CPU until the lock becomes available</a:t>
            </a:r>
          </a:p>
          <a:p>
            <a:pPr lvl="1"/>
            <a:r>
              <a:rPr lang="en-US" altLang="ko-KR" dirty="0"/>
              <a:t>Suitable for longer wait times or resource-intensive applications</a:t>
            </a:r>
            <a:endParaRPr lang="ko-KR" altLang="en-US" dirty="0"/>
          </a:p>
        </p:txBody>
      </p:sp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3DB6878E-C704-498E-8E0E-4A8E7216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530914"/>
              </p:ext>
            </p:extLst>
          </p:nvPr>
        </p:nvGraphicFramePr>
        <p:xfrm>
          <a:off x="527145" y="3509962"/>
          <a:ext cx="1113771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266">
                  <a:extLst>
                    <a:ext uri="{9D8B030D-6E8A-4147-A177-3AD203B41FA5}">
                      <a16:colId xmlns:a16="http://schemas.microsoft.com/office/drawing/2014/main" val="44125086"/>
                    </a:ext>
                  </a:extLst>
                </a:gridCol>
                <a:gridCol w="4441371">
                  <a:extLst>
                    <a:ext uri="{9D8B030D-6E8A-4147-A177-3AD203B41FA5}">
                      <a16:colId xmlns:a16="http://schemas.microsoft.com/office/drawing/2014/main" val="4190849492"/>
                    </a:ext>
                  </a:extLst>
                </a:gridCol>
                <a:gridCol w="4852073">
                  <a:extLst>
                    <a:ext uri="{9D8B030D-6E8A-4147-A177-3AD203B41FA5}">
                      <a16:colId xmlns:a16="http://schemas.microsoft.com/office/drawing/2014/main" val="19106120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Aspect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Spin Lock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Mutex Lock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60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Waiting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Busy-waiting (CPU is fully utilized)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Sleep-waiting (CPU is released)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2053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Overhead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Low (no context switching)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High (context switching involved)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062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Use case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Short wait times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Long wait times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600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Multi-core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Effective in multi-core systems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Works well in both single/multi-core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732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Complexity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Simple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Relies on OS support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2488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92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Mutex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/>
              <a:t>Protects shared data</a:t>
            </a:r>
          </a:p>
          <a:p>
            <a:r>
              <a:rPr lang="en-US" altLang="ko-KR" dirty="0"/>
              <a:t>Allows only one thread to access the critical section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What if most of the accesses are reads?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36BC1-B78D-42A7-96D9-002E7F8E9A64}"/>
              </a:ext>
            </a:extLst>
          </p:cNvPr>
          <p:cNvSpPr txBox="1"/>
          <p:nvPr/>
        </p:nvSpPr>
        <p:spPr>
          <a:xfrm>
            <a:off x="1105320" y="2026978"/>
            <a:ext cx="7345344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thread_function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acquire mutex lock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critical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section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access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to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the</a:t>
            </a:r>
            <a:r>
              <a:rPr lang="ko-KR" altLang="en-US" dirty="0">
                <a:solidFill>
                  <a:srgbClr val="6A9955"/>
                </a:solidFill>
                <a:latin typeface="Consolas" panose="020B0609020204030204" pitchFamily="49" charset="0"/>
              </a:rPr>
              <a:t> </a:t>
            </a:r>
            <a:r>
              <a:rPr lang="en-US" altLang="ko-KR" dirty="0">
                <a:solidFill>
                  <a:srgbClr val="6A9955"/>
                </a:solidFill>
                <a:latin typeface="Consolas" panose="020B0609020204030204" pitchFamily="49" charset="0"/>
              </a:rPr>
              <a:t>shared data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"Thread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incremented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 // release mutex lock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E82550-88EC-41D9-97E7-B3565B1D7D95}"/>
              </a:ext>
            </a:extLst>
          </p:cNvPr>
          <p:cNvSpPr/>
          <p:nvPr/>
        </p:nvSpPr>
        <p:spPr>
          <a:xfrm>
            <a:off x="1587641" y="3125035"/>
            <a:ext cx="5879960" cy="123595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74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Many Readers &amp; Few Writers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/>
              <a:t>Contention necessary?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If there is no concurrent writer, multiple threads can concurrently read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036BC1-B78D-42A7-96D9-002E7F8E9A64}"/>
              </a:ext>
            </a:extLst>
          </p:cNvPr>
          <p:cNvSpPr txBox="1"/>
          <p:nvPr/>
        </p:nvSpPr>
        <p:spPr>
          <a:xfrm>
            <a:off x="733529" y="2430492"/>
            <a:ext cx="5144755" cy="25853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reader_function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"Reader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read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90EC2-296F-41E9-B6A0-4EF8F28C63E3}"/>
              </a:ext>
            </a:extLst>
          </p:cNvPr>
          <p:cNvSpPr txBox="1"/>
          <p:nvPr/>
        </p:nvSpPr>
        <p:spPr>
          <a:xfrm>
            <a:off x="6035533" y="2153493"/>
            <a:ext cx="5557880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Consolas" panose="020B0609020204030204" pitchFamily="49" charset="0"/>
              </a:rPr>
              <a:t>v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oid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writer_function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ko-KR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"Writer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ld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updated data: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pthread_mutex_unlock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ko-K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ko-KR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40697-BF82-489D-ADF2-FB16C1543DCA}"/>
              </a:ext>
            </a:extLst>
          </p:cNvPr>
          <p:cNvSpPr txBox="1"/>
          <p:nvPr/>
        </p:nvSpPr>
        <p:spPr>
          <a:xfrm>
            <a:off x="733528" y="2111400"/>
            <a:ext cx="5144755" cy="36933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shared_data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F02DAFE-9941-4EA9-9633-C6B9B77D2024}"/>
              </a:ext>
            </a:extLst>
          </p:cNvPr>
          <p:cNvSpPr/>
          <p:nvPr/>
        </p:nvSpPr>
        <p:spPr>
          <a:xfrm>
            <a:off x="1245997" y="3281532"/>
            <a:ext cx="4521757" cy="59713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B95A97B-9F3E-47FF-B6FB-3D80DF3C5B8F}"/>
              </a:ext>
            </a:extLst>
          </p:cNvPr>
          <p:cNvSpPr/>
          <p:nvPr/>
        </p:nvSpPr>
        <p:spPr>
          <a:xfrm>
            <a:off x="6553594" y="2985478"/>
            <a:ext cx="4904877" cy="89318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23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RW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65117" cy="5140325"/>
          </a:xfrm>
        </p:spPr>
        <p:txBody>
          <a:bodyPr/>
          <a:lstStyle/>
          <a:p>
            <a:r>
              <a:rPr lang="en-US" altLang="ko-KR" sz="2000" dirty="0"/>
              <a:t>A specialized lock that distinguishes between read and write access</a:t>
            </a:r>
          </a:p>
          <a:p>
            <a:r>
              <a:rPr lang="en-US" altLang="ko-KR" sz="2000" dirty="0"/>
              <a:t>RW lock is usually </a:t>
            </a:r>
            <a:r>
              <a:rPr lang="en-US" altLang="ko-KR" sz="2000" b="1" dirty="0"/>
              <a:t>reader-priority </a:t>
            </a:r>
            <a:r>
              <a:rPr lang="en-US" altLang="ko-KR" sz="2000" dirty="0"/>
              <a:t>(</a:t>
            </a:r>
            <a:r>
              <a:rPr lang="en-US" altLang="ko-KR" sz="2000" dirty="0" err="1">
                <a:hlinkClick r:id="rId3"/>
              </a:rPr>
              <a:t>pthread_rwlockattr_setkind_np</a:t>
            </a:r>
            <a:r>
              <a:rPr lang="en-US" altLang="ko-KR" sz="2000" dirty="0">
                <a:hlinkClick r:id="rId3"/>
              </a:rPr>
              <a:t>(3) - Linux manual page</a:t>
            </a:r>
            <a:r>
              <a:rPr lang="en-US" altLang="ko-KR" sz="2000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concurrent multiple readers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</a:rPr>
              <a:t>Blocks writer when any readers exist (including pending readers)</a:t>
            </a:r>
          </a:p>
          <a:p>
            <a:pPr lvl="1"/>
            <a:r>
              <a:rPr lang="en-US" altLang="ko-KR" sz="1800" dirty="0"/>
              <a:t>When there is no more readers, wake up the oldest pending writer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single writer only</a:t>
            </a:r>
          </a:p>
          <a:p>
            <a:pPr lvl="1"/>
            <a:r>
              <a:rPr lang="en-US" altLang="ko-KR" sz="1800" dirty="0"/>
              <a:t>Blocks other threads when writing</a:t>
            </a:r>
          </a:p>
          <a:p>
            <a:pPr lvl="1"/>
            <a:r>
              <a:rPr lang="en-US" altLang="ko-KR" sz="1800" dirty="0"/>
              <a:t>After finishing, wake up all pending readers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BC37C7CF-9DA1-4FB9-A87A-01A1C445E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57450"/>
              </p:ext>
            </p:extLst>
          </p:nvPr>
        </p:nvGraphicFramePr>
        <p:xfrm>
          <a:off x="471485" y="3965547"/>
          <a:ext cx="1105397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64">
                  <a:extLst>
                    <a:ext uri="{9D8B030D-6E8A-4147-A177-3AD203B41FA5}">
                      <a16:colId xmlns:a16="http://schemas.microsoft.com/office/drawing/2014/main" val="4209320041"/>
                    </a:ext>
                  </a:extLst>
                </a:gridCol>
                <a:gridCol w="4481565">
                  <a:extLst>
                    <a:ext uri="{9D8B030D-6E8A-4147-A177-3AD203B41FA5}">
                      <a16:colId xmlns:a16="http://schemas.microsoft.com/office/drawing/2014/main" val="1215722025"/>
                    </a:ext>
                  </a:extLst>
                </a:gridCol>
                <a:gridCol w="4602145">
                  <a:extLst>
                    <a:ext uri="{9D8B030D-6E8A-4147-A177-3AD203B41FA5}">
                      <a16:colId xmlns:a16="http://schemas.microsoft.com/office/drawing/2014/main" val="3870034152"/>
                    </a:ext>
                  </a:extLst>
                </a:gridCol>
              </a:tblGrid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Aspect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Mutex Lock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Reader-Writer Lock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433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Concurrency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Only one thread (reader or writer) at a time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9896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Performance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Suitable for low read-to-write ratio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Optimized for high read-to-write ratio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127520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Complexity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Simpler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More complex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8116769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Starvation Risk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No starvation (single queue)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Writer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27920"/>
                  </a:ext>
                </a:extLst>
              </a:tr>
              <a:tr h="1682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Use Case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Any critical section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Scenarios with frequent reads and rare writes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772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807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5199D08-7DFE-4176-AAA3-F461CEBAE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285641-E5BE-4177-B52F-C9ADE60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FIFO RW Lock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12556D7E-49C7-4E34-B51E-34E625D159D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65117" cy="514032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concurrent multiple readers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Allows single writer only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Handle all accesses FIFO</a:t>
            </a:r>
          </a:p>
          <a:p>
            <a:pPr lvl="1"/>
            <a:endParaRPr lang="en-US" altLang="ko-KR" sz="18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</p:txBody>
      </p:sp>
      <p:graphicFrame>
        <p:nvGraphicFramePr>
          <p:cNvPr id="8" name="표 9">
            <a:extLst>
              <a:ext uri="{FF2B5EF4-FFF2-40B4-BE49-F238E27FC236}">
                <a16:creationId xmlns:a16="http://schemas.microsoft.com/office/drawing/2014/main" id="{BC37C7CF-9DA1-4FB9-A87A-01A1C445E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899609"/>
              </p:ext>
            </p:extLst>
          </p:nvPr>
        </p:nvGraphicFramePr>
        <p:xfrm>
          <a:off x="569013" y="3743055"/>
          <a:ext cx="11053974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264">
                  <a:extLst>
                    <a:ext uri="{9D8B030D-6E8A-4147-A177-3AD203B41FA5}">
                      <a16:colId xmlns:a16="http://schemas.microsoft.com/office/drawing/2014/main" val="4209320041"/>
                    </a:ext>
                  </a:extLst>
                </a:gridCol>
                <a:gridCol w="4481565">
                  <a:extLst>
                    <a:ext uri="{9D8B030D-6E8A-4147-A177-3AD203B41FA5}">
                      <a16:colId xmlns:a16="http://schemas.microsoft.com/office/drawing/2014/main" val="1215722025"/>
                    </a:ext>
                  </a:extLst>
                </a:gridCol>
                <a:gridCol w="4602145">
                  <a:extLst>
                    <a:ext uri="{9D8B030D-6E8A-4147-A177-3AD203B41FA5}">
                      <a16:colId xmlns:a16="http://schemas.microsoft.com/office/drawing/2014/main" val="3870034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Aspect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Reader-Priority RW Lock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FIFO RW Lock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16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Concurrency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Multiple readers or a single writer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09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Performance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Optimized for high read-to-write ratio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Balanced performance and fairness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127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Starvation Risk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Writer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No starvation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27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Use Case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Scenarios with frequent reads and rare writes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dirty="0"/>
                        <a:t>Any scenarios</a:t>
                      </a:r>
                      <a:endParaRPr lang="ko-KR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772923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70F3D5E4-EC11-40F7-BA12-B953E6C4E318}"/>
              </a:ext>
            </a:extLst>
          </p:cNvPr>
          <p:cNvSpPr/>
          <p:nvPr/>
        </p:nvSpPr>
        <p:spPr>
          <a:xfrm>
            <a:off x="5848401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AA1FCAA-69A1-41E7-B28D-A112343B7187}"/>
              </a:ext>
            </a:extLst>
          </p:cNvPr>
          <p:cNvSpPr/>
          <p:nvPr/>
        </p:nvSpPr>
        <p:spPr>
          <a:xfrm>
            <a:off x="6194392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4834BA3-6AC3-4FA1-A56F-E4A09C700785}"/>
              </a:ext>
            </a:extLst>
          </p:cNvPr>
          <p:cNvSpPr/>
          <p:nvPr/>
        </p:nvSpPr>
        <p:spPr>
          <a:xfrm>
            <a:off x="6540383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0A7B5B-FEEA-4866-82DA-EDBD31F8C67E}"/>
              </a:ext>
            </a:extLst>
          </p:cNvPr>
          <p:cNvSpPr/>
          <p:nvPr/>
        </p:nvSpPr>
        <p:spPr>
          <a:xfrm>
            <a:off x="8014868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592D721A-DA3C-4FC1-90D7-8D11210CECB9}"/>
              </a:ext>
            </a:extLst>
          </p:cNvPr>
          <p:cNvSpPr/>
          <p:nvPr/>
        </p:nvSpPr>
        <p:spPr>
          <a:xfrm>
            <a:off x="8360872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FC65A0-3430-46B9-9525-9FD66004862C}"/>
              </a:ext>
            </a:extLst>
          </p:cNvPr>
          <p:cNvSpPr/>
          <p:nvPr/>
        </p:nvSpPr>
        <p:spPr>
          <a:xfrm>
            <a:off x="8706900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05DA658-2FD6-4961-A84B-9BAC8771D34C}"/>
              </a:ext>
            </a:extLst>
          </p:cNvPr>
          <p:cNvSpPr/>
          <p:nvPr/>
        </p:nvSpPr>
        <p:spPr>
          <a:xfrm>
            <a:off x="9052928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68F7CD6-005F-43F8-A4B9-13AEB3504633}"/>
              </a:ext>
            </a:extLst>
          </p:cNvPr>
          <p:cNvSpPr/>
          <p:nvPr/>
        </p:nvSpPr>
        <p:spPr>
          <a:xfrm>
            <a:off x="9744910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807D4F8-5E4C-4428-AAA2-30CBBFE71EED}"/>
              </a:ext>
            </a:extLst>
          </p:cNvPr>
          <p:cNvSpPr/>
          <p:nvPr/>
        </p:nvSpPr>
        <p:spPr>
          <a:xfrm>
            <a:off x="10090901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18ABD51A-0A74-469B-AD42-D66DCA430C2C}"/>
              </a:ext>
            </a:extLst>
          </p:cNvPr>
          <p:cNvSpPr/>
          <p:nvPr/>
        </p:nvSpPr>
        <p:spPr>
          <a:xfrm>
            <a:off x="9398919" y="1916680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009700A4-2161-4370-A4C5-016DCAF0D7EC}"/>
              </a:ext>
            </a:extLst>
          </p:cNvPr>
          <p:cNvSpPr/>
          <p:nvPr/>
        </p:nvSpPr>
        <p:spPr>
          <a:xfrm flipH="1">
            <a:off x="7254321" y="1809588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4F41ECD-127E-455B-989C-F5C16DB1DBAA}"/>
              </a:ext>
            </a:extLst>
          </p:cNvPr>
          <p:cNvSpPr txBox="1"/>
          <p:nvPr/>
        </p:nvSpPr>
        <p:spPr>
          <a:xfrm>
            <a:off x="7041769" y="146267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49" name="화살표: 오른쪽 48">
            <a:extLst>
              <a:ext uri="{FF2B5EF4-FFF2-40B4-BE49-F238E27FC236}">
                <a16:creationId xmlns:a16="http://schemas.microsoft.com/office/drawing/2014/main" id="{728A23B9-F4CE-4B66-9AFF-951589A78214}"/>
              </a:ext>
            </a:extLst>
          </p:cNvPr>
          <p:cNvSpPr/>
          <p:nvPr/>
        </p:nvSpPr>
        <p:spPr>
          <a:xfrm flipH="1">
            <a:off x="10641322" y="1809588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C4D24B-4A0F-4DF5-B040-7141F70847CD}"/>
              </a:ext>
            </a:extLst>
          </p:cNvPr>
          <p:cNvSpPr txBox="1"/>
          <p:nvPr/>
        </p:nvSpPr>
        <p:spPr>
          <a:xfrm>
            <a:off x="10428770" y="1462679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51" name="왼쪽 중괄호 50">
            <a:extLst>
              <a:ext uri="{FF2B5EF4-FFF2-40B4-BE49-F238E27FC236}">
                <a16:creationId xmlns:a16="http://schemas.microsoft.com/office/drawing/2014/main" id="{BB0CDBE0-2334-4D0D-8A6F-57BCA2551283}"/>
              </a:ext>
            </a:extLst>
          </p:cNvPr>
          <p:cNvSpPr/>
          <p:nvPr/>
        </p:nvSpPr>
        <p:spPr>
          <a:xfrm rot="16200000">
            <a:off x="6184749" y="1981175"/>
            <a:ext cx="313038" cy="104078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1625AA-4178-4BB2-B26B-EF38A97166D4}"/>
              </a:ext>
            </a:extLst>
          </p:cNvPr>
          <p:cNvSpPr txBox="1"/>
          <p:nvPr/>
        </p:nvSpPr>
        <p:spPr>
          <a:xfrm>
            <a:off x="5748453" y="2674565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53" name="왼쪽 대괄호 52">
            <a:extLst>
              <a:ext uri="{FF2B5EF4-FFF2-40B4-BE49-F238E27FC236}">
                <a16:creationId xmlns:a16="http://schemas.microsoft.com/office/drawing/2014/main" id="{CEE6FD29-9E35-407C-9E5E-295F4BF71E94}"/>
              </a:ext>
            </a:extLst>
          </p:cNvPr>
          <p:cNvSpPr/>
          <p:nvPr/>
        </p:nvSpPr>
        <p:spPr>
          <a:xfrm rot="16200000">
            <a:off x="8106713" y="2255658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대괄호 53">
            <a:extLst>
              <a:ext uri="{FF2B5EF4-FFF2-40B4-BE49-F238E27FC236}">
                <a16:creationId xmlns:a16="http://schemas.microsoft.com/office/drawing/2014/main" id="{2B8DA1A2-F7AC-469B-B7A8-43C9121D09DC}"/>
              </a:ext>
            </a:extLst>
          </p:cNvPr>
          <p:cNvSpPr/>
          <p:nvPr/>
        </p:nvSpPr>
        <p:spPr>
          <a:xfrm rot="16200000">
            <a:off x="8452714" y="2259777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왼쪽 대괄호 54">
            <a:extLst>
              <a:ext uri="{FF2B5EF4-FFF2-40B4-BE49-F238E27FC236}">
                <a16:creationId xmlns:a16="http://schemas.microsoft.com/office/drawing/2014/main" id="{AAF6D4A8-0069-4569-8F4B-4311F6A8D5E3}"/>
              </a:ext>
            </a:extLst>
          </p:cNvPr>
          <p:cNvSpPr/>
          <p:nvPr/>
        </p:nvSpPr>
        <p:spPr>
          <a:xfrm rot="16200000">
            <a:off x="8792645" y="22680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왼쪽 대괄호 55">
            <a:extLst>
              <a:ext uri="{FF2B5EF4-FFF2-40B4-BE49-F238E27FC236}">
                <a16:creationId xmlns:a16="http://schemas.microsoft.com/office/drawing/2014/main" id="{F15AFE6B-C957-420C-85AD-05D18D93F406}"/>
              </a:ext>
            </a:extLst>
          </p:cNvPr>
          <p:cNvSpPr/>
          <p:nvPr/>
        </p:nvSpPr>
        <p:spPr>
          <a:xfrm rot="16200000">
            <a:off x="9132576" y="22680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왼쪽 대괄호 56">
            <a:extLst>
              <a:ext uri="{FF2B5EF4-FFF2-40B4-BE49-F238E27FC236}">
                <a16:creationId xmlns:a16="http://schemas.microsoft.com/office/drawing/2014/main" id="{36046823-B5A1-40FA-BC33-1281C4E02223}"/>
              </a:ext>
            </a:extLst>
          </p:cNvPr>
          <p:cNvSpPr/>
          <p:nvPr/>
        </p:nvSpPr>
        <p:spPr>
          <a:xfrm rot="16200000">
            <a:off x="9484640" y="2268014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왼쪽 중괄호 57">
            <a:extLst>
              <a:ext uri="{FF2B5EF4-FFF2-40B4-BE49-F238E27FC236}">
                <a16:creationId xmlns:a16="http://schemas.microsoft.com/office/drawing/2014/main" id="{8E8D478B-8190-48C9-A8C0-A33804CCBC6E}"/>
              </a:ext>
            </a:extLst>
          </p:cNvPr>
          <p:cNvSpPr/>
          <p:nvPr/>
        </p:nvSpPr>
        <p:spPr>
          <a:xfrm rot="16200000">
            <a:off x="9923052" y="2192797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AC36A7-BD0B-4E5D-9635-63C94FAEBDA6}"/>
              </a:ext>
            </a:extLst>
          </p:cNvPr>
          <p:cNvSpPr txBox="1"/>
          <p:nvPr/>
        </p:nvSpPr>
        <p:spPr>
          <a:xfrm>
            <a:off x="9511955" y="2674565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88F12B3-C825-4C70-8030-4C78D8F7B126}"/>
              </a:ext>
            </a:extLst>
          </p:cNvPr>
          <p:cNvSpPr txBox="1"/>
          <p:nvPr/>
        </p:nvSpPr>
        <p:spPr>
          <a:xfrm>
            <a:off x="8281531" y="2473422"/>
            <a:ext cx="1161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sequential</a:t>
            </a:r>
            <a:endParaRPr lang="ko-KR" altLang="en-US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42BB8A9-E6CA-400F-92F5-E3D256A369B9}"/>
              </a:ext>
            </a:extLst>
          </p:cNvPr>
          <p:cNvCxnSpPr>
            <a:cxnSpLocks/>
          </p:cNvCxnSpPr>
          <p:nvPr/>
        </p:nvCxnSpPr>
        <p:spPr>
          <a:xfrm>
            <a:off x="7093683" y="908837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9792BD7-D36A-4F3E-9C87-9B3E1ABB1B4C}"/>
              </a:ext>
            </a:extLst>
          </p:cNvPr>
          <p:cNvSpPr txBox="1"/>
          <p:nvPr/>
        </p:nvSpPr>
        <p:spPr>
          <a:xfrm>
            <a:off x="6022181" y="90883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0D565A-4B5F-4924-A72B-9CB6D39A8420}"/>
              </a:ext>
            </a:extLst>
          </p:cNvPr>
          <p:cNvSpPr txBox="1"/>
          <p:nvPr/>
        </p:nvSpPr>
        <p:spPr>
          <a:xfrm>
            <a:off x="7116184" y="91063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D8EFCE-AA31-4DE7-80FF-4038CE9367F5}"/>
              </a:ext>
            </a:extLst>
          </p:cNvPr>
          <p:cNvSpPr txBox="1"/>
          <p:nvPr/>
        </p:nvSpPr>
        <p:spPr>
          <a:xfrm>
            <a:off x="6397585" y="5831785"/>
            <a:ext cx="56422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u="sng" dirty="0">
                <a:hlinkClick r:id="rId3"/>
              </a:rPr>
              <a:t>https://docs.kernel.org/locking/locktypes.html</a:t>
            </a:r>
            <a:endParaRPr lang="en-US" altLang="ko-KR" u="sng" dirty="0"/>
          </a:p>
          <a:p>
            <a:r>
              <a:rPr lang="en-US" altLang="ko-KR" u="sng" dirty="0" err="1">
                <a:hlinkClick r:id="rId4"/>
              </a:rPr>
              <a:t>ReentrantReadWriteLock</a:t>
            </a:r>
            <a:r>
              <a:rPr lang="en-US" altLang="ko-KR" u="sng" dirty="0">
                <a:hlinkClick r:id="rId4"/>
              </a:rPr>
              <a:t> (Java Platform SE 8 )</a:t>
            </a:r>
            <a:endParaRPr lang="en-US" altLang="ko-KR" u="sng" dirty="0"/>
          </a:p>
          <a:p>
            <a:r>
              <a:rPr lang="en-US" altLang="ko-KR" u="sng" dirty="0">
                <a:hlinkClick r:id="rId5"/>
              </a:rPr>
              <a:t>https://docs.rs/tokio/latest/tokio/sync/struct.RwLock.html</a:t>
            </a:r>
            <a:endParaRPr lang="en-US" altLang="ko-KR" u="sng" dirty="0"/>
          </a:p>
        </p:txBody>
      </p:sp>
    </p:spTree>
    <p:extLst>
      <p:ext uri="{BB962C8B-B14F-4D97-AF65-F5344CB8AC3E}">
        <p14:creationId xmlns:p14="http://schemas.microsoft.com/office/powerpoint/2010/main" val="1863033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06B2AF-0A37-4C8B-9F9E-A1A84DDC8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18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09A67FE-1ADF-4D8C-B1D7-77B3FA36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Signaling through Condition Variables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1CCBAD3C-2D6A-4881-85E1-F957DEE315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3" y="999858"/>
            <a:ext cx="11490466" cy="4872231"/>
          </a:xfrm>
        </p:spPr>
        <p:txBody>
          <a:bodyPr/>
          <a:lstStyle/>
          <a:p>
            <a:r>
              <a:rPr lang="en-US" altLang="ko-KR" sz="2000" dirty="0"/>
              <a:t>Example for waking up other threads using condition variables</a:t>
            </a:r>
          </a:p>
          <a:p>
            <a:pPr marL="0" indent="0">
              <a:buNone/>
            </a:pPr>
            <a:r>
              <a:rPr lang="en-US" altLang="ko-KR" sz="2000" dirty="0"/>
              <a:t>Thread 1: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pthread_cond_wait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ko-KR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2000" dirty="0"/>
              <a:t>Thread 2: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pthread_cond_signal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(or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pthread_cond_broadcast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ko-KR" sz="20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condvar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);)</a:t>
            </a:r>
          </a:p>
        </p:txBody>
      </p:sp>
    </p:spTree>
    <p:extLst>
      <p:ext uri="{BB962C8B-B14F-4D97-AF65-F5344CB8AC3E}">
        <p14:creationId xmlns:p14="http://schemas.microsoft.com/office/powerpoint/2010/main" val="59587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0EF8D-8882-4B17-7D14-E09DCF569B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7668"/>
            <a:ext cx="9144000" cy="1904672"/>
          </a:xfrm>
        </p:spPr>
        <p:txBody>
          <a:bodyPr/>
          <a:lstStyle/>
          <a:p>
            <a:r>
              <a:rPr lang="en-US" altLang="ko-KR" dirty="0"/>
              <a:t>Part 1:</a:t>
            </a:r>
            <a:br>
              <a:rPr lang="en-US" altLang="ko-KR" dirty="0"/>
            </a:br>
            <a:r>
              <a:rPr lang="en-US" altLang="ko-KR" dirty="0"/>
              <a:t>SKVS Server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9366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C42EBAE2-63D6-4D6C-B7AC-5D575B3EE7F9}"/>
              </a:ext>
            </a:extLst>
          </p:cNvPr>
          <p:cNvSpPr/>
          <p:nvPr/>
        </p:nvSpPr>
        <p:spPr>
          <a:xfrm>
            <a:off x="1071796" y="5532228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TCP Teardown</a:t>
            </a:r>
            <a:endParaRPr lang="ko-KR" altLang="en-US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42E0C2-4568-4CB4-BC60-B0097B9F24A3}"/>
              </a:ext>
            </a:extLst>
          </p:cNvPr>
          <p:cNvSpPr/>
          <p:nvPr/>
        </p:nvSpPr>
        <p:spPr>
          <a:xfrm>
            <a:off x="1071796" y="1756421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Handshake</a:t>
            </a:r>
            <a:endParaRPr lang="ko-KR" altLang="en-US" sz="18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606A79-1FCA-40C3-8F0C-5EFBF788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4DC5C2-5F2F-46EB-91B3-25AE6813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Protocol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59E640A-73A0-434F-9BBF-44FB06BFF275}"/>
              </a:ext>
            </a:extLst>
          </p:cNvPr>
          <p:cNvCxnSpPr>
            <a:cxnSpLocks/>
          </p:cNvCxnSpPr>
          <p:nvPr/>
        </p:nvCxnSpPr>
        <p:spPr>
          <a:xfrm>
            <a:off x="1071796" y="252175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2A160F-D748-4EAB-BB0B-F13BF73F4D00}"/>
              </a:ext>
            </a:extLst>
          </p:cNvPr>
          <p:cNvSpPr txBox="1"/>
          <p:nvPr/>
        </p:nvSpPr>
        <p:spPr>
          <a:xfrm rot="395423">
            <a:off x="2304740" y="2474864"/>
            <a:ext cx="16296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SKVS request msg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AA47-A8D4-4FB7-89B7-C7455A981CEE}"/>
              </a:ext>
            </a:extLst>
          </p:cNvPr>
          <p:cNvSpPr txBox="1"/>
          <p:nvPr/>
        </p:nvSpPr>
        <p:spPr>
          <a:xfrm rot="21148198">
            <a:off x="2107519" y="2971475"/>
            <a:ext cx="18389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SKVS response msg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9" name="Picture 2" descr="Web Server Png">
            <a:extLst>
              <a:ext uri="{FF2B5EF4-FFF2-40B4-BE49-F238E27FC236}">
                <a16:creationId xmlns:a16="http://schemas.microsoft.com/office/drawing/2014/main" id="{8BB6C5A6-2DCF-4E03-8BE2-C12BC81E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46" y="942270"/>
            <a:ext cx="671742" cy="67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aptop icon">
            <a:extLst>
              <a:ext uri="{FF2B5EF4-FFF2-40B4-BE49-F238E27FC236}">
                <a16:creationId xmlns:a16="http://schemas.microsoft.com/office/drawing/2014/main" id="{F15DC829-CBDC-4DF4-9EE7-6922BEED9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5" y="926119"/>
            <a:ext cx="697262" cy="6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922247-1DA4-430B-BAAD-E22DCFE363A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194917" y="1614012"/>
            <a:ext cx="0" cy="455596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FBB541B-A9EA-4EDB-96C9-0BE194DE23A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71796" y="1623381"/>
            <a:ext cx="0" cy="454660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AB50A9-4715-4708-934C-04309D223D59}"/>
              </a:ext>
            </a:extLst>
          </p:cNvPr>
          <p:cNvCxnSpPr>
            <a:cxnSpLocks/>
          </p:cNvCxnSpPr>
          <p:nvPr/>
        </p:nvCxnSpPr>
        <p:spPr>
          <a:xfrm flipH="1">
            <a:off x="1071796" y="29385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EC5D76C-11D7-426D-8B6E-974C960ED1A7}"/>
              </a:ext>
            </a:extLst>
          </p:cNvPr>
          <p:cNvCxnSpPr>
            <a:cxnSpLocks/>
          </p:cNvCxnSpPr>
          <p:nvPr/>
        </p:nvCxnSpPr>
        <p:spPr>
          <a:xfrm>
            <a:off x="1071796" y="387621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ACF3759-6CFC-4A0F-9455-C84F88FCFC27}"/>
              </a:ext>
            </a:extLst>
          </p:cNvPr>
          <p:cNvCxnSpPr>
            <a:cxnSpLocks/>
          </p:cNvCxnSpPr>
          <p:nvPr/>
        </p:nvCxnSpPr>
        <p:spPr>
          <a:xfrm flipH="1">
            <a:off x="1071796" y="4292969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19D2715-AB99-414D-B9E8-BEF1965B0CE6}"/>
              </a:ext>
            </a:extLst>
          </p:cNvPr>
          <p:cNvSpPr txBox="1"/>
          <p:nvPr/>
        </p:nvSpPr>
        <p:spPr>
          <a:xfrm rot="395423">
            <a:off x="2348468" y="3851646"/>
            <a:ext cx="16296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SKVS request msg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61FF15-27D0-4F93-9E5E-1EF17CD14D0A}"/>
              </a:ext>
            </a:extLst>
          </p:cNvPr>
          <p:cNvSpPr txBox="1"/>
          <p:nvPr/>
        </p:nvSpPr>
        <p:spPr>
          <a:xfrm rot="21148198">
            <a:off x="2211991" y="4298540"/>
            <a:ext cx="18389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SKVS response msg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46" name="텍스트 개체 틀 3">
            <a:extLst>
              <a:ext uri="{FF2B5EF4-FFF2-40B4-BE49-F238E27FC236}">
                <a16:creationId xmlns:a16="http://schemas.microsoft.com/office/drawing/2014/main" id="{C9AE49E7-E5D6-4EA8-94A9-B56A504FB6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029810"/>
            <a:ext cx="5801246" cy="5050315"/>
          </a:xfrm>
        </p:spPr>
        <p:txBody>
          <a:bodyPr/>
          <a:lstStyle/>
          <a:p>
            <a:r>
              <a:rPr lang="en-US" altLang="ko-KR" dirty="0"/>
              <a:t>One connection per one client</a:t>
            </a:r>
          </a:p>
          <a:p>
            <a:r>
              <a:rPr lang="en-US" altLang="ko-KR" b="1" dirty="0"/>
              <a:t>Keep alive </a:t>
            </a:r>
            <a:r>
              <a:rPr lang="en-US" altLang="ko-KR" dirty="0"/>
              <a:t>until typing empty line (\n) or EOF (Ctrl D)</a:t>
            </a:r>
          </a:p>
          <a:p>
            <a:r>
              <a:rPr lang="en-US" altLang="ko-KR" b="1" dirty="0"/>
              <a:t>Half-duplex</a:t>
            </a:r>
          </a:p>
          <a:p>
            <a:pPr lvl="1"/>
            <a:r>
              <a:rPr lang="en-US" altLang="ko-KR" dirty="0"/>
              <a:t>After sending request, wait for the response</a:t>
            </a:r>
          </a:p>
          <a:p>
            <a:r>
              <a:rPr lang="en-US" altLang="ko-KR" b="1" dirty="0"/>
              <a:t>Text </a:t>
            </a:r>
            <a:r>
              <a:rPr lang="en-US" altLang="ko-KR" dirty="0"/>
              <a:t>based protocol</a:t>
            </a:r>
          </a:p>
          <a:p>
            <a:pPr lvl="1"/>
            <a:r>
              <a:rPr lang="en-US" altLang="ko-KR" dirty="0"/>
              <a:t>Key and value should be also</a:t>
            </a:r>
            <a:r>
              <a:rPr lang="en-US" altLang="ko-KR" b="1" dirty="0"/>
              <a:t> </a:t>
            </a:r>
            <a:r>
              <a:rPr lang="en-US" altLang="ko-KR" dirty="0"/>
              <a:t>text</a:t>
            </a:r>
          </a:p>
          <a:p>
            <a:pPr lvl="1"/>
            <a:r>
              <a:rPr lang="en-US" altLang="ko-KR" dirty="0"/>
              <a:t>Refer to the next slide</a:t>
            </a:r>
          </a:p>
          <a:p>
            <a:r>
              <a:rPr lang="en-US" altLang="ko-KR" dirty="0"/>
              <a:t>Server should be </a:t>
            </a:r>
            <a:r>
              <a:rPr lang="en-US" altLang="ko-KR" b="1" dirty="0"/>
              <a:t>stateful</a:t>
            </a:r>
          </a:p>
          <a:p>
            <a:pPr lvl="1"/>
            <a:r>
              <a:rPr lang="en-US" altLang="ko-KR" dirty="0"/>
              <a:t>Key-value pairs should be accessible by other clients</a:t>
            </a:r>
          </a:p>
          <a:p>
            <a:r>
              <a:rPr lang="en-US" altLang="ko-KR" dirty="0"/>
              <a:t>Default service port: 8080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31C039-12FB-456C-87AA-4E4EF7BCA14E}"/>
              </a:ext>
            </a:extLst>
          </p:cNvPr>
          <p:cNvSpPr txBox="1"/>
          <p:nvPr/>
        </p:nvSpPr>
        <p:spPr>
          <a:xfrm>
            <a:off x="0" y="5316585"/>
            <a:ext cx="1071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EOF (Ctrl D)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empty line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98C1FDC-B2F6-451E-95CD-9720C868162E}"/>
              </a:ext>
            </a:extLst>
          </p:cNvPr>
          <p:cNvSpPr txBox="1"/>
          <p:nvPr/>
        </p:nvSpPr>
        <p:spPr>
          <a:xfrm rot="5400000">
            <a:off x="3024751" y="4843158"/>
            <a:ext cx="37382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…</a:t>
            </a:r>
            <a:endParaRPr lang="ko-KR" altLang="en-US" dirty="0">
              <a:latin typeface="Courier New"/>
              <a:ea typeface="맑은 고딕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70021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A8CD1B-ED7A-4964-97ED-8D16F8F5C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21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6FB485E-F451-4AF6-A250-8B9974EE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Protocol (cont.)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CD67D58-516A-4546-A180-BF5A007CF6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7035669" cy="5379608"/>
          </a:xfrm>
          <a:noFill/>
        </p:spPr>
        <p:txBody>
          <a:bodyPr/>
          <a:lstStyle/>
          <a:p>
            <a:r>
              <a:rPr lang="en-US" altLang="ko-KR" sz="2000" dirty="0"/>
              <a:t>Request Msg Format: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ko-KR" sz="1800" dirty="0"/>
              <a:t>[CMD]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[key]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[value]</a:t>
            </a:r>
            <a:r>
              <a:rPr lang="en-US" altLang="ko-KR" sz="1800" baseline="-25000" dirty="0"/>
              <a:t>n</a:t>
            </a:r>
          </a:p>
          <a:p>
            <a:pPr marL="800089" lvl="1" indent="-342900">
              <a:buFont typeface="+mj-lt"/>
              <a:buAutoNum type="arabicPeriod"/>
            </a:pPr>
            <a:r>
              <a:rPr lang="en-US" altLang="ko-KR" sz="1800" dirty="0"/>
              <a:t>[CMD]</a:t>
            </a:r>
            <a:r>
              <a:rPr lang="en-US" altLang="ko-KR" sz="1800" baseline="-25000" dirty="0"/>
              <a:t>s</a:t>
            </a:r>
            <a:r>
              <a:rPr lang="en-US" altLang="ko-KR" sz="1800" dirty="0"/>
              <a:t>[key]</a:t>
            </a:r>
            <a:r>
              <a:rPr lang="en-US" altLang="ko-KR" sz="1800" baseline="-25000" dirty="0"/>
              <a:t>n</a:t>
            </a:r>
          </a:p>
          <a:p>
            <a:r>
              <a:rPr lang="en-US" altLang="ko-KR" sz="2000" dirty="0"/>
              <a:t>Examples</a:t>
            </a:r>
          </a:p>
          <a:p>
            <a:pPr lvl="1"/>
            <a:r>
              <a:rPr lang="en-US" altLang="ko-KR" sz="1800" dirty="0" err="1"/>
              <a:t>CREATE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world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READ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UPDATE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snu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/>
              <a:t>DELETE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pPr lvl="1"/>
            <a:r>
              <a:rPr lang="en-US" altLang="ko-KR" sz="1800" dirty="0" err="1">
                <a:solidFill>
                  <a:schemeClr val="tx1"/>
                </a:solidFill>
              </a:rPr>
              <a:t>QREAD</a:t>
            </a:r>
            <a:r>
              <a:rPr lang="en-US" altLang="ko-KR" sz="1800" baseline="-25000" dirty="0" err="1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sz="1800" dirty="0" err="1"/>
              <a:t>hello</a:t>
            </a:r>
            <a:r>
              <a:rPr lang="en-US" altLang="ko-KR" sz="1800" baseline="-25000" dirty="0" err="1"/>
              <a:t>n</a:t>
            </a:r>
            <a:endParaRPr lang="en-US" altLang="ko-KR" sz="1800" dirty="0"/>
          </a:p>
          <a:p>
            <a:endParaRPr lang="en-US" altLang="ko-KR" sz="2000" dirty="0"/>
          </a:p>
          <a:p>
            <a:r>
              <a:rPr lang="en-US" altLang="ko-KR" sz="2000" dirty="0"/>
              <a:t>CMD:</a:t>
            </a:r>
            <a:r>
              <a:rPr lang="ko-KR" altLang="en-US" sz="2000" dirty="0"/>
              <a:t> </a:t>
            </a:r>
            <a:r>
              <a:rPr lang="en-US" altLang="ko-KR" sz="2000" dirty="0"/>
              <a:t>one</a:t>
            </a:r>
            <a:r>
              <a:rPr lang="ko-KR" altLang="en-US" sz="2000" dirty="0"/>
              <a:t> </a:t>
            </a:r>
            <a:r>
              <a:rPr lang="en-US" altLang="ko-KR" sz="2000" dirty="0"/>
              <a:t>of</a:t>
            </a:r>
            <a:r>
              <a:rPr lang="ko-KR" altLang="en-US" sz="2000" dirty="0"/>
              <a:t> </a:t>
            </a:r>
            <a:r>
              <a:rPr lang="en-US" altLang="ko-KR" sz="2000" dirty="0"/>
              <a:t>CREATE,</a:t>
            </a:r>
            <a:r>
              <a:rPr lang="ko-KR" altLang="en-US" sz="2000" dirty="0"/>
              <a:t> </a:t>
            </a:r>
            <a:r>
              <a:rPr lang="en-US" altLang="ko-KR" sz="2000" dirty="0"/>
              <a:t>READ,</a:t>
            </a:r>
            <a:r>
              <a:rPr lang="ko-KR" altLang="en-US" sz="2000" dirty="0"/>
              <a:t> </a:t>
            </a:r>
            <a:r>
              <a:rPr lang="en-US" altLang="ko-KR" sz="2000" dirty="0"/>
              <a:t>UPDATE,</a:t>
            </a:r>
            <a:r>
              <a:rPr lang="ko-KR" altLang="en-US" sz="2000" dirty="0"/>
              <a:t> </a:t>
            </a:r>
            <a:r>
              <a:rPr lang="en-US" altLang="ko-KR" sz="2000" dirty="0"/>
              <a:t>DELETE, </a:t>
            </a:r>
            <a:r>
              <a:rPr lang="en-US" altLang="ko-KR" sz="2000" dirty="0">
                <a:solidFill>
                  <a:schemeClr val="tx1"/>
                </a:solidFill>
              </a:rPr>
              <a:t>QREAD</a:t>
            </a:r>
          </a:p>
          <a:p>
            <a:pPr lvl="1"/>
            <a:r>
              <a:rPr lang="en-US" altLang="ko-KR" sz="1800" dirty="0"/>
              <a:t>case-insensitive (e.g., </a:t>
            </a:r>
            <a:r>
              <a:rPr lang="en-US" altLang="ko-KR" sz="1800" dirty="0" err="1"/>
              <a:t>rEAd</a:t>
            </a:r>
            <a:r>
              <a:rPr lang="en-US" altLang="ko-KR" sz="1800" dirty="0"/>
              <a:t>, </a:t>
            </a:r>
            <a:r>
              <a:rPr lang="en-US" altLang="ko-KR" sz="1800" dirty="0" err="1"/>
              <a:t>cReAtE</a:t>
            </a:r>
            <a:r>
              <a:rPr lang="en-US" altLang="ko-KR" sz="1800" dirty="0"/>
              <a:t> are okay)</a:t>
            </a:r>
          </a:p>
          <a:p>
            <a:r>
              <a:rPr lang="en-US" altLang="ko-KR" sz="2000" dirty="0"/>
              <a:t>Key, value: string without </a:t>
            </a:r>
            <a:r>
              <a:rPr lang="en-US" altLang="ko-KR" sz="2000" baseline="-25000" dirty="0"/>
              <a:t>s </a:t>
            </a:r>
            <a:r>
              <a:rPr lang="en-US" altLang="ko-KR" sz="2000" dirty="0"/>
              <a:t>nor </a:t>
            </a:r>
            <a:r>
              <a:rPr lang="en-US" altLang="ko-KR" sz="2000" baseline="-25000" dirty="0"/>
              <a:t>n</a:t>
            </a:r>
          </a:p>
          <a:p>
            <a:pPr lvl="1"/>
            <a:r>
              <a:rPr lang="en-US" altLang="ko-KR" sz="1800" dirty="0"/>
              <a:t>No binary, only text, case-sensitive</a:t>
            </a:r>
          </a:p>
          <a:p>
            <a:pPr lvl="1"/>
            <a:r>
              <a:rPr lang="en-US" altLang="ko-KR" sz="1800" dirty="0" err="1"/>
              <a:t>len</a:t>
            </a:r>
            <a:r>
              <a:rPr lang="en-US" altLang="ko-KR" sz="1800" dirty="0"/>
              <a:t>(key) &lt;= 32B, </a:t>
            </a:r>
            <a:r>
              <a:rPr lang="en-US" altLang="ko-KR" sz="1800" dirty="0" err="1"/>
              <a:t>len</a:t>
            </a:r>
            <a:r>
              <a:rPr lang="en-US" altLang="ko-KR" sz="1800" dirty="0"/>
              <a:t>(SKVS msg) &lt;= 4096B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C426F34F-4332-4EDB-B12D-AD0E7DB87C6C}"/>
              </a:ext>
            </a:extLst>
          </p:cNvPr>
          <p:cNvSpPr txBox="1">
            <a:spLocks/>
          </p:cNvSpPr>
          <p:nvPr/>
        </p:nvSpPr>
        <p:spPr>
          <a:xfrm>
            <a:off x="7578590" y="939800"/>
            <a:ext cx="4489480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Response Msg Format: </a:t>
            </a:r>
          </a:p>
          <a:p>
            <a:pPr lvl="1"/>
            <a:r>
              <a:rPr lang="en-US" altLang="ko-KR" sz="1600" dirty="0" err="1"/>
              <a:t>CREATE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/>
              <a:t>[value]</a:t>
            </a:r>
            <a:r>
              <a:rPr lang="en-US" altLang="ko-KR" sz="1600" baseline="-25000" dirty="0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UPDATE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DELETE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OK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COLLISION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NOT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FOUND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INVALID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CMD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pPr lvl="1"/>
            <a:r>
              <a:rPr lang="en-US" altLang="ko-KR" sz="1600" dirty="0" err="1"/>
              <a:t>INTERNAL</a:t>
            </a:r>
            <a:r>
              <a:rPr lang="en-US" altLang="ko-KR" sz="1600" baseline="-25000" dirty="0" err="1"/>
              <a:t>s</a:t>
            </a:r>
            <a:r>
              <a:rPr lang="en-US" altLang="ko-KR" sz="1600" dirty="0" err="1"/>
              <a:t>ERR</a:t>
            </a:r>
            <a:r>
              <a:rPr lang="en-US" altLang="ko-KR" sz="1600" baseline="-25000" dirty="0" err="1"/>
              <a:t>n</a:t>
            </a:r>
            <a:endParaRPr lang="en-US" altLang="ko-KR" sz="1600" dirty="0"/>
          </a:p>
          <a:p>
            <a:endParaRPr lang="en-US" altLang="ko-KR" sz="2000" dirty="0"/>
          </a:p>
          <a:p>
            <a:r>
              <a:rPr lang="en-US" altLang="ko-KR" sz="2000" dirty="0"/>
              <a:t>EOF or empty line on client</a:t>
            </a:r>
          </a:p>
          <a:p>
            <a:pPr lvl="1"/>
            <a:r>
              <a:rPr lang="en-US" altLang="ko-KR" sz="1800" dirty="0"/>
              <a:t>Close the connection</a:t>
            </a:r>
          </a:p>
          <a:p>
            <a:pPr lvl="1"/>
            <a:r>
              <a:rPr lang="en-US" altLang="ko-KR" sz="1800" dirty="0"/>
              <a:t>Exit client program</a:t>
            </a:r>
            <a:endParaRPr lang="en-US" altLang="ko-KR" sz="20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89F4A415-29F0-4CE3-9F81-2A27FA9F79F2}"/>
              </a:ext>
            </a:extLst>
          </p:cNvPr>
          <p:cNvCxnSpPr>
            <a:cxnSpLocks/>
          </p:cNvCxnSpPr>
          <p:nvPr/>
        </p:nvCxnSpPr>
        <p:spPr>
          <a:xfrm flipV="1">
            <a:off x="3567165" y="1451728"/>
            <a:ext cx="4547903" cy="9898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F4BC7BE-BFB6-440D-B9F9-9A435079CE63}"/>
              </a:ext>
            </a:extLst>
          </p:cNvPr>
          <p:cNvCxnSpPr>
            <a:cxnSpLocks/>
          </p:cNvCxnSpPr>
          <p:nvPr/>
        </p:nvCxnSpPr>
        <p:spPr>
          <a:xfrm>
            <a:off x="3567165" y="2441542"/>
            <a:ext cx="4547903" cy="12254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131B072-4B11-404E-B8B4-5BFFFC9948E2}"/>
              </a:ext>
            </a:extLst>
          </p:cNvPr>
          <p:cNvCxnSpPr>
            <a:cxnSpLocks/>
          </p:cNvCxnSpPr>
          <p:nvPr/>
        </p:nvCxnSpPr>
        <p:spPr>
          <a:xfrm flipV="1">
            <a:off x="2838318" y="1689732"/>
            <a:ext cx="5276750" cy="110587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2069CCF-6F29-427A-9EB5-05B37C871C28}"/>
              </a:ext>
            </a:extLst>
          </p:cNvPr>
          <p:cNvCxnSpPr>
            <a:cxnSpLocks/>
          </p:cNvCxnSpPr>
          <p:nvPr/>
        </p:nvCxnSpPr>
        <p:spPr>
          <a:xfrm>
            <a:off x="2838318" y="2795608"/>
            <a:ext cx="5276750" cy="54124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F0DB0A3-850E-45CE-A6D0-5F0E952E446F}"/>
              </a:ext>
            </a:extLst>
          </p:cNvPr>
          <p:cNvCxnSpPr>
            <a:cxnSpLocks/>
          </p:cNvCxnSpPr>
          <p:nvPr/>
        </p:nvCxnSpPr>
        <p:spPr>
          <a:xfrm flipV="1">
            <a:off x="3374796" y="2017336"/>
            <a:ext cx="4740272" cy="1042310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995477AE-A513-4A8D-8C15-E8E5B29CA683}"/>
              </a:ext>
            </a:extLst>
          </p:cNvPr>
          <p:cNvCxnSpPr>
            <a:cxnSpLocks/>
          </p:cNvCxnSpPr>
          <p:nvPr/>
        </p:nvCxnSpPr>
        <p:spPr>
          <a:xfrm flipV="1">
            <a:off x="3374796" y="2849732"/>
            <a:ext cx="4740272" cy="209913"/>
          </a:xfrm>
          <a:prstGeom prst="straightConnector1">
            <a:avLst/>
          </a:prstGeom>
          <a:ln w="19050">
            <a:solidFill>
              <a:schemeClr val="accent5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DC3E021-D1E3-47BA-AECF-B30462663ED6}"/>
              </a:ext>
            </a:extLst>
          </p:cNvPr>
          <p:cNvCxnSpPr>
            <a:cxnSpLocks/>
          </p:cNvCxnSpPr>
          <p:nvPr/>
        </p:nvCxnSpPr>
        <p:spPr>
          <a:xfrm flipV="1">
            <a:off x="2944167" y="2303320"/>
            <a:ext cx="5170901" cy="110587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4FBDF3-8082-4C02-9326-9D2B249B1C54}"/>
              </a:ext>
            </a:extLst>
          </p:cNvPr>
          <p:cNvCxnSpPr>
            <a:cxnSpLocks/>
          </p:cNvCxnSpPr>
          <p:nvPr/>
        </p:nvCxnSpPr>
        <p:spPr>
          <a:xfrm flipV="1">
            <a:off x="2944167" y="2849732"/>
            <a:ext cx="5170901" cy="559465"/>
          </a:xfrm>
          <a:prstGeom prst="straightConnector1">
            <a:avLst/>
          </a:prstGeom>
          <a:ln w="19050">
            <a:solidFill>
              <a:srgbClr val="7030A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2E4565A-0B27-4BEF-B0DF-B065AB15CC7C}"/>
              </a:ext>
            </a:extLst>
          </p:cNvPr>
          <p:cNvSpPr txBox="1"/>
          <p:nvPr/>
        </p:nvSpPr>
        <p:spPr>
          <a:xfrm>
            <a:off x="9513407" y="100720"/>
            <a:ext cx="2554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“</a:t>
            </a:r>
            <a:r>
              <a:rPr lang="en-US" altLang="ko-KR" baseline="-25000" dirty="0">
                <a:solidFill>
                  <a:schemeClr val="tx1"/>
                </a:solidFill>
                <a:ea typeface="Tahoma" panose="020B0604030504040204" pitchFamily="34" charset="0"/>
              </a:rPr>
              <a:t>s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”: a space character </a:t>
            </a: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“</a:t>
            </a:r>
            <a:r>
              <a:rPr lang="en-US" altLang="ko-KR" baseline="-25000" dirty="0">
                <a:solidFill>
                  <a:schemeClr val="tx1"/>
                </a:solidFill>
                <a:ea typeface="Tahoma" panose="020B0604030504040204" pitchFamily="34" charset="0"/>
              </a:rPr>
              <a:t>n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”: a newline character</a:t>
            </a:r>
            <a:endParaRPr lang="en-US" altLang="ko-KR" dirty="0">
              <a:ea typeface="Tahoma" panose="020B0604030504040204" pitchFamily="34" charset="0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9D1A8A9-1C8D-431D-93BB-8234B57F63F4}"/>
              </a:ext>
            </a:extLst>
          </p:cNvPr>
          <p:cNvCxnSpPr>
            <a:cxnSpLocks/>
          </p:cNvCxnSpPr>
          <p:nvPr/>
        </p:nvCxnSpPr>
        <p:spPr>
          <a:xfrm flipV="1">
            <a:off x="2944167" y="1689732"/>
            <a:ext cx="5170901" cy="205043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65DFA88-74C3-47D4-AECA-7DB9053EBCD0}"/>
              </a:ext>
            </a:extLst>
          </p:cNvPr>
          <p:cNvCxnSpPr>
            <a:cxnSpLocks/>
          </p:cNvCxnSpPr>
          <p:nvPr/>
        </p:nvCxnSpPr>
        <p:spPr>
          <a:xfrm flipV="1">
            <a:off x="2944167" y="2849732"/>
            <a:ext cx="5170901" cy="890436"/>
          </a:xfrm>
          <a:prstGeom prst="straightConnector1">
            <a:avLst/>
          </a:prstGeom>
          <a:ln w="1905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90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>
            <a:extLst>
              <a:ext uri="{FF2B5EF4-FFF2-40B4-BE49-F238E27FC236}">
                <a16:creationId xmlns:a16="http://schemas.microsoft.com/office/drawing/2014/main" id="{9C42E0C2-4568-4CB4-BC60-B0097B9F24A3}"/>
              </a:ext>
            </a:extLst>
          </p:cNvPr>
          <p:cNvSpPr/>
          <p:nvPr/>
        </p:nvSpPr>
        <p:spPr>
          <a:xfrm>
            <a:off x="1071796" y="1756421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altLang="ko-K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 Handshake</a:t>
            </a:r>
            <a:endParaRPr lang="ko-KR" altLang="en-US" sz="18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8606A79-1FCA-40C3-8F0C-5EFBF788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4DC5C2-5F2F-46EB-91B3-25AE6813B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059E640A-73A0-434F-9BBF-44FB06BFF275}"/>
              </a:ext>
            </a:extLst>
          </p:cNvPr>
          <p:cNvCxnSpPr>
            <a:cxnSpLocks/>
          </p:cNvCxnSpPr>
          <p:nvPr/>
        </p:nvCxnSpPr>
        <p:spPr>
          <a:xfrm>
            <a:off x="1071796" y="2521757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92A160F-D748-4EAB-BB0B-F13BF73F4D00}"/>
              </a:ext>
            </a:extLst>
          </p:cNvPr>
          <p:cNvSpPr txBox="1"/>
          <p:nvPr/>
        </p:nvSpPr>
        <p:spPr>
          <a:xfrm rot="395423">
            <a:off x="2064071" y="2474864"/>
            <a:ext cx="21110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“CREATE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INTP\n”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5AA47-A8D4-4FB7-89B7-C7455A981CEE}"/>
              </a:ext>
            </a:extLst>
          </p:cNvPr>
          <p:cNvSpPr txBox="1"/>
          <p:nvPr/>
        </p:nvSpPr>
        <p:spPr>
          <a:xfrm rot="21148198">
            <a:off x="2285709" y="2971475"/>
            <a:ext cx="14825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“CREATE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pic>
        <p:nvPicPr>
          <p:cNvPr id="9" name="Picture 2" descr="Web Server Png">
            <a:extLst>
              <a:ext uri="{FF2B5EF4-FFF2-40B4-BE49-F238E27FC236}">
                <a16:creationId xmlns:a16="http://schemas.microsoft.com/office/drawing/2014/main" id="{8BB6C5A6-2DCF-4E03-8BE2-C12BC81EA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046" y="942270"/>
            <a:ext cx="671742" cy="67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Laptop icon">
            <a:extLst>
              <a:ext uri="{FF2B5EF4-FFF2-40B4-BE49-F238E27FC236}">
                <a16:creationId xmlns:a16="http://schemas.microsoft.com/office/drawing/2014/main" id="{F15DC829-CBDC-4DF4-9EE7-6922BEED96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5" y="926119"/>
            <a:ext cx="697262" cy="69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922247-1DA4-430B-BAAD-E22DCFE363A6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194917" y="1614012"/>
            <a:ext cx="0" cy="455596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DFBB541B-A9EA-4EDB-96C9-0BE194DE23AB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071796" y="1623381"/>
            <a:ext cx="0" cy="4546600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DAB50A9-4715-4708-934C-04309D223D59}"/>
              </a:ext>
            </a:extLst>
          </p:cNvPr>
          <p:cNvCxnSpPr>
            <a:cxnSpLocks/>
          </p:cNvCxnSpPr>
          <p:nvPr/>
        </p:nvCxnSpPr>
        <p:spPr>
          <a:xfrm flipH="1">
            <a:off x="1071796" y="29385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5EC5D76C-11D7-426D-8B6E-974C960ED1A7}"/>
              </a:ext>
            </a:extLst>
          </p:cNvPr>
          <p:cNvCxnSpPr>
            <a:cxnSpLocks/>
          </p:cNvCxnSpPr>
          <p:nvPr/>
        </p:nvCxnSpPr>
        <p:spPr>
          <a:xfrm>
            <a:off x="1071796" y="3785785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ACF3759-6CFC-4A0F-9455-C84F88FCFC27}"/>
              </a:ext>
            </a:extLst>
          </p:cNvPr>
          <p:cNvCxnSpPr>
            <a:cxnSpLocks/>
          </p:cNvCxnSpPr>
          <p:nvPr/>
        </p:nvCxnSpPr>
        <p:spPr>
          <a:xfrm flipH="1">
            <a:off x="1071796" y="420253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19D2715-AB99-414D-B9E8-BEF1965B0CE6}"/>
              </a:ext>
            </a:extLst>
          </p:cNvPr>
          <p:cNvSpPr txBox="1"/>
          <p:nvPr/>
        </p:nvSpPr>
        <p:spPr>
          <a:xfrm rot="395423">
            <a:off x="2433018" y="3761214"/>
            <a:ext cx="14605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ReaD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61FF15-27D0-4F93-9E5E-1EF17CD14D0A}"/>
              </a:ext>
            </a:extLst>
          </p:cNvPr>
          <p:cNvSpPr txBox="1"/>
          <p:nvPr/>
        </p:nvSpPr>
        <p:spPr>
          <a:xfrm rot="21148198">
            <a:off x="2700906" y="4208108"/>
            <a:ext cx="8611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“INTP\n”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B0B5848-2CFA-4B18-9E05-0741EDA56E2C}"/>
              </a:ext>
            </a:extLst>
          </p:cNvPr>
          <p:cNvSpPr/>
          <p:nvPr/>
        </p:nvSpPr>
        <p:spPr>
          <a:xfrm>
            <a:off x="6804950" y="5792805"/>
            <a:ext cx="4123116" cy="29128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TCP Teardown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0499F82-84A5-4518-AA59-724E474F6028}"/>
              </a:ext>
            </a:extLst>
          </p:cNvPr>
          <p:cNvCxnSpPr>
            <a:cxnSpLocks/>
          </p:cNvCxnSpPr>
          <p:nvPr/>
        </p:nvCxnSpPr>
        <p:spPr>
          <a:xfrm>
            <a:off x="6804950" y="903294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6013312-99AB-47D9-8499-4C1551A5F3D4}"/>
              </a:ext>
            </a:extLst>
          </p:cNvPr>
          <p:cNvSpPr txBox="1"/>
          <p:nvPr/>
        </p:nvSpPr>
        <p:spPr>
          <a:xfrm rot="395423">
            <a:off x="7986508" y="856401"/>
            <a:ext cx="17324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“read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yoo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D88EBA-E3E3-491C-AD63-CFE51BBA8AD2}"/>
              </a:ext>
            </a:extLst>
          </p:cNvPr>
          <p:cNvSpPr txBox="1"/>
          <p:nvPr/>
        </p:nvSpPr>
        <p:spPr>
          <a:xfrm rot="21148198">
            <a:off x="7961957" y="1353012"/>
            <a:ext cx="15963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“INVALID CMD\n”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CB226934-FCD2-4BD3-AFFD-722BD050AB5B}"/>
              </a:ext>
            </a:extLst>
          </p:cNvPr>
          <p:cNvCxnSpPr>
            <a:cxnSpLocks/>
          </p:cNvCxnSpPr>
          <p:nvPr/>
        </p:nvCxnSpPr>
        <p:spPr>
          <a:xfrm>
            <a:off x="10928066" y="747051"/>
            <a:ext cx="5" cy="543229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16CD307-106A-4423-9394-716F1391380F}"/>
              </a:ext>
            </a:extLst>
          </p:cNvPr>
          <p:cNvCxnSpPr>
            <a:cxnSpLocks/>
          </p:cNvCxnSpPr>
          <p:nvPr/>
        </p:nvCxnSpPr>
        <p:spPr>
          <a:xfrm>
            <a:off x="6804950" y="747051"/>
            <a:ext cx="0" cy="5432299"/>
          </a:xfrm>
          <a:prstGeom prst="straightConnector1">
            <a:avLst/>
          </a:prstGeom>
          <a:noFill/>
          <a:ln w="28575" cap="flat" cmpd="sng" algn="ctr">
            <a:solidFill>
              <a:sysClr val="windowText" lastClr="000000"/>
            </a:solidFill>
            <a:prstDash val="solid"/>
            <a:miter/>
            <a:headEnd type="none" w="med" len="med"/>
            <a:tailEnd type="none" w="med" len="med"/>
          </a:ln>
          <a:effectLst/>
        </p:spPr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3CA63CE4-0AC7-4D7D-B903-966988B244AC}"/>
              </a:ext>
            </a:extLst>
          </p:cNvPr>
          <p:cNvCxnSpPr>
            <a:cxnSpLocks/>
          </p:cNvCxnSpPr>
          <p:nvPr/>
        </p:nvCxnSpPr>
        <p:spPr>
          <a:xfrm flipH="1">
            <a:off x="6804950" y="1320044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942344F-1398-4EE7-BA2E-99292C6E06FB}"/>
              </a:ext>
            </a:extLst>
          </p:cNvPr>
          <p:cNvCxnSpPr>
            <a:cxnSpLocks/>
          </p:cNvCxnSpPr>
          <p:nvPr/>
        </p:nvCxnSpPr>
        <p:spPr>
          <a:xfrm>
            <a:off x="6804950" y="2177368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B6DC6CA4-1374-4104-B511-DDDCA6F7A43C}"/>
              </a:ext>
            </a:extLst>
          </p:cNvPr>
          <p:cNvCxnSpPr>
            <a:cxnSpLocks/>
          </p:cNvCxnSpPr>
          <p:nvPr/>
        </p:nvCxnSpPr>
        <p:spPr>
          <a:xfrm flipH="1">
            <a:off x="6804950" y="2594120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D61807B-1949-4F48-9A13-B2B48BE9BB91}"/>
              </a:ext>
            </a:extLst>
          </p:cNvPr>
          <p:cNvSpPr txBox="1"/>
          <p:nvPr/>
        </p:nvSpPr>
        <p:spPr>
          <a:xfrm rot="395423">
            <a:off x="8154915" y="2152797"/>
            <a:ext cx="148309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“READ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517DBFD-A9D7-4046-AA01-5A9B2ED49AA1}"/>
              </a:ext>
            </a:extLst>
          </p:cNvPr>
          <p:cNvSpPr txBox="1"/>
          <p:nvPr/>
        </p:nvSpPr>
        <p:spPr>
          <a:xfrm rot="21148198">
            <a:off x="8393985" y="2599691"/>
            <a:ext cx="9412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“CUTE\n”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B9D501-4EDA-43FC-9F86-FC8D0A4FF915}"/>
              </a:ext>
            </a:extLst>
          </p:cNvPr>
          <p:cNvSpPr txBox="1"/>
          <p:nvPr/>
        </p:nvSpPr>
        <p:spPr>
          <a:xfrm>
            <a:off x="5733154" y="5577162"/>
            <a:ext cx="10717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EOF (Ctrl D)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</a:t>
            </a:r>
          </a:p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empty line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8FF1BCB-121F-4506-80BC-64A30BF1D72E}"/>
              </a:ext>
            </a:extLst>
          </p:cNvPr>
          <p:cNvCxnSpPr>
            <a:cxnSpLocks/>
          </p:cNvCxnSpPr>
          <p:nvPr/>
        </p:nvCxnSpPr>
        <p:spPr>
          <a:xfrm>
            <a:off x="1074134" y="5067690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F991610F-DB15-437A-B1C3-B9B239FE30F3}"/>
              </a:ext>
            </a:extLst>
          </p:cNvPr>
          <p:cNvCxnSpPr>
            <a:cxnSpLocks/>
          </p:cNvCxnSpPr>
          <p:nvPr/>
        </p:nvCxnSpPr>
        <p:spPr>
          <a:xfrm flipH="1">
            <a:off x="1074134" y="5484442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A47DCD1-B0D5-499C-84E5-AE61B7EBE329}"/>
              </a:ext>
            </a:extLst>
          </p:cNvPr>
          <p:cNvSpPr txBox="1"/>
          <p:nvPr/>
        </p:nvSpPr>
        <p:spPr>
          <a:xfrm rot="395423">
            <a:off x="2082084" y="5043119"/>
            <a:ext cx="216713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UpDATE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CUTE\n”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87CC1C-CA9C-40B3-A423-EC1A1377803E}"/>
              </a:ext>
            </a:extLst>
          </p:cNvPr>
          <p:cNvSpPr txBox="1"/>
          <p:nvPr/>
        </p:nvSpPr>
        <p:spPr>
          <a:xfrm rot="21148198">
            <a:off x="2394924" y="5490013"/>
            <a:ext cx="1477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“UPDATE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0F370F5-9D80-46D0-8356-952F717DB1FF}"/>
              </a:ext>
            </a:extLst>
          </p:cNvPr>
          <p:cNvCxnSpPr>
            <a:cxnSpLocks/>
          </p:cNvCxnSpPr>
          <p:nvPr/>
        </p:nvCxnSpPr>
        <p:spPr>
          <a:xfrm>
            <a:off x="6804950" y="3425822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BC5D1DBA-1FBE-45CC-973D-4EC8C5E43740}"/>
              </a:ext>
            </a:extLst>
          </p:cNvPr>
          <p:cNvCxnSpPr>
            <a:cxnSpLocks/>
          </p:cNvCxnSpPr>
          <p:nvPr/>
        </p:nvCxnSpPr>
        <p:spPr>
          <a:xfrm flipH="1">
            <a:off x="6804950" y="3842574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D482874-74B0-446A-8827-C62848EC3107}"/>
              </a:ext>
            </a:extLst>
          </p:cNvPr>
          <p:cNvSpPr txBox="1"/>
          <p:nvPr/>
        </p:nvSpPr>
        <p:spPr>
          <a:xfrm rot="395423">
            <a:off x="7968970" y="3401251"/>
            <a:ext cx="18549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“DELETE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50708B-2831-4753-AD45-BA99B5F9B04A}"/>
              </a:ext>
            </a:extLst>
          </p:cNvPr>
          <p:cNvSpPr txBox="1"/>
          <p:nvPr/>
        </p:nvSpPr>
        <p:spPr>
          <a:xfrm rot="21148198">
            <a:off x="8107084" y="3848145"/>
            <a:ext cx="15150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“NOT FOUND\n”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678A7E45-708B-4417-8AB0-524C9B0AE9B4}"/>
              </a:ext>
            </a:extLst>
          </p:cNvPr>
          <p:cNvCxnSpPr>
            <a:cxnSpLocks/>
          </p:cNvCxnSpPr>
          <p:nvPr/>
        </p:nvCxnSpPr>
        <p:spPr>
          <a:xfrm>
            <a:off x="6804947" y="4663155"/>
            <a:ext cx="4123121" cy="420125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6EF84DD-84E3-4E81-A7C2-A08699D4C71C}"/>
              </a:ext>
            </a:extLst>
          </p:cNvPr>
          <p:cNvCxnSpPr>
            <a:cxnSpLocks/>
          </p:cNvCxnSpPr>
          <p:nvPr/>
        </p:nvCxnSpPr>
        <p:spPr>
          <a:xfrm flipH="1">
            <a:off x="6804947" y="5079907"/>
            <a:ext cx="4123122" cy="534880"/>
          </a:xfrm>
          <a:prstGeom prst="straightConnector1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/>
            <a:tailEnd type="triangle"/>
          </a:ln>
          <a:effectLst/>
        </p:spPr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2FB219DF-83AF-4DF3-BA66-7F850E9F3117}"/>
              </a:ext>
            </a:extLst>
          </p:cNvPr>
          <p:cNvSpPr txBox="1"/>
          <p:nvPr/>
        </p:nvSpPr>
        <p:spPr>
          <a:xfrm rot="395423">
            <a:off x="8066750" y="4638584"/>
            <a:ext cx="165942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“DELETE </a:t>
            </a:r>
            <a:r>
              <a:rPr lang="en-US" altLang="ko-KR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jihoon</a:t>
            </a:r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\n”</a:t>
            </a:r>
            <a:endParaRPr lang="ko-KR" altLang="en-US" sz="1400" dirty="0">
              <a:latin typeface="Courier New"/>
              <a:ea typeface="맑은 고딕"/>
              <a:cs typeface="Courier New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C248D43-F97F-408B-B25F-7FD7BB0AADFF}"/>
              </a:ext>
            </a:extLst>
          </p:cNvPr>
          <p:cNvSpPr txBox="1"/>
          <p:nvPr/>
        </p:nvSpPr>
        <p:spPr>
          <a:xfrm rot="21148198">
            <a:off x="8134298" y="5085478"/>
            <a:ext cx="14606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400" dirty="0">
                <a:latin typeface="Arial"/>
                <a:ea typeface="맑은 고딕"/>
                <a:cs typeface="Arial"/>
              </a:rPr>
              <a:t>“DELETE OK\n”</a:t>
            </a:r>
            <a:endParaRPr lang="ko-KR" altLang="en-US" sz="1400" dirty="0">
              <a:latin typeface="Arial"/>
              <a:ea typeface="맑은 고딕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8220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4" grpId="0"/>
      <p:bldP spid="45" grpId="0"/>
      <p:bldP spid="23" grpId="0" animBg="1"/>
      <p:bldP spid="26" grpId="0"/>
      <p:bldP spid="27" grpId="0"/>
      <p:bldP spid="36" grpId="0"/>
      <p:bldP spid="38" grpId="0"/>
      <p:bldP spid="39" grpId="0"/>
      <p:bldP spid="49" grpId="0"/>
      <p:bldP spid="50" grpId="0"/>
      <p:bldP spid="53" grpId="0"/>
      <p:bldP spid="54" grpId="0"/>
      <p:bldP spid="57" grpId="0"/>
      <p:bldP spid="5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CA54A8-1889-4D40-853E-ED003E6E3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5308B25-C770-441C-997D-13E9ECAF3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Handling Errors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C13B2D-6019-4938-9722-595487C1E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If SKVS request is in invalid format?</a:t>
            </a:r>
          </a:p>
          <a:p>
            <a:pPr lvl="1"/>
            <a:r>
              <a:rPr lang="en-US" altLang="ko-KR" dirty="0"/>
              <a:t>Responds “INVALID CMD\n”</a:t>
            </a:r>
          </a:p>
          <a:p>
            <a:r>
              <a:rPr lang="en-US" altLang="ko-KR" dirty="0"/>
              <a:t>If the length of SKVS msg &gt; 4096</a:t>
            </a:r>
          </a:p>
          <a:p>
            <a:pPr lvl="1"/>
            <a:r>
              <a:rPr lang="en-US" altLang="ko-KR">
                <a:solidFill>
                  <a:srgbClr val="FF0000"/>
                </a:solidFill>
              </a:rPr>
              <a:t>Reference client </a:t>
            </a:r>
            <a:r>
              <a:rPr lang="en-US" altLang="ko-KR" dirty="0">
                <a:solidFill>
                  <a:srgbClr val="FF0000"/>
                </a:solidFill>
              </a:rPr>
              <a:t>will prohibit this case</a:t>
            </a:r>
          </a:p>
          <a:p>
            <a:r>
              <a:rPr lang="en-US" altLang="ko-KR" dirty="0"/>
              <a:t>If the length of [key] &gt; 32</a:t>
            </a:r>
          </a:p>
          <a:p>
            <a:pPr lvl="1"/>
            <a:r>
              <a:rPr lang="en-US" altLang="ko-KR" dirty="0"/>
              <a:t>Responds “INVALID CMD\n”</a:t>
            </a:r>
          </a:p>
          <a:p>
            <a:r>
              <a:rPr lang="en-US" altLang="ko-KR" dirty="0"/>
              <a:t>Received CREATE msg, but key-value pair already exists?</a:t>
            </a:r>
          </a:p>
          <a:p>
            <a:pPr lvl="1"/>
            <a:r>
              <a:rPr lang="en-US" altLang="ko-KR" dirty="0"/>
              <a:t>Responds “COLLISION\n”</a:t>
            </a:r>
          </a:p>
          <a:p>
            <a:r>
              <a:rPr lang="en-US" altLang="ko-KR" dirty="0"/>
              <a:t>Received READ/UPDATE/DELETE/QREAD msg, but no such key exists?</a:t>
            </a:r>
          </a:p>
          <a:p>
            <a:pPr lvl="1"/>
            <a:r>
              <a:rPr lang="en-US" altLang="ko-KR" dirty="0"/>
              <a:t>Responds “NOT FOUND\n”</a:t>
            </a:r>
          </a:p>
          <a:p>
            <a:r>
              <a:rPr lang="en-US" altLang="ko-KR" dirty="0"/>
              <a:t>If any internal error occurs, so cannot serve the request?</a:t>
            </a:r>
          </a:p>
          <a:p>
            <a:pPr lvl="1"/>
            <a:r>
              <a:rPr lang="en-US" altLang="ko-KR" dirty="0"/>
              <a:t>Responds “INTERNAL ERR\n”</a:t>
            </a:r>
          </a:p>
        </p:txBody>
      </p:sp>
    </p:spTree>
    <p:extLst>
      <p:ext uri="{BB962C8B-B14F-4D97-AF65-F5344CB8AC3E}">
        <p14:creationId xmlns:p14="http://schemas.microsoft.com/office/powerpoint/2010/main" val="38213124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A924C0-1BA1-4377-B8CD-A7C9641D1F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3638341" cy="5140325"/>
          </a:xfrm>
        </p:spPr>
        <p:txBody>
          <a:bodyPr/>
          <a:lstStyle/>
          <a:p>
            <a:r>
              <a:rPr lang="en-US" altLang="ko-KR" dirty="0"/>
              <a:t>Global HT should support </a:t>
            </a:r>
            <a:r>
              <a:rPr lang="en-US" altLang="ko-KR" dirty="0">
                <a:solidFill>
                  <a:srgbClr val="FF0000"/>
                </a:solidFill>
              </a:rPr>
              <a:t>thread-safe access</a:t>
            </a:r>
            <a:r>
              <a:rPr lang="en-US" altLang="ko-KR" dirty="0"/>
              <a:t> to both read and write operations</a:t>
            </a:r>
          </a:p>
          <a:p>
            <a:r>
              <a:rPr lang="en-US" altLang="ko-KR" dirty="0"/>
              <a:t>Single listen queue</a:t>
            </a:r>
          </a:p>
          <a:p>
            <a:r>
              <a:rPr lang="en-US" altLang="ko-KR" dirty="0"/>
              <a:t>Use </a:t>
            </a:r>
            <a:r>
              <a:rPr lang="en-US" altLang="ko-KR" dirty="0">
                <a:solidFill>
                  <a:srgbClr val="FF0000"/>
                </a:solidFill>
              </a:rPr>
              <a:t>10 </a:t>
            </a:r>
            <a:r>
              <a:rPr lang="en-US" altLang="ko-KR" dirty="0"/>
              <a:t>worker threads</a:t>
            </a:r>
          </a:p>
        </p:txBody>
      </p:sp>
      <p:grpSp>
        <p:nvGrpSpPr>
          <p:cNvPr id="53" name="Group 56">
            <a:extLst>
              <a:ext uri="{FF2B5EF4-FFF2-40B4-BE49-F238E27FC236}">
                <a16:creationId xmlns:a16="http://schemas.microsoft.com/office/drawing/2014/main" id="{270C2C02-7E60-4435-9966-9A30661C7F83}"/>
              </a:ext>
            </a:extLst>
          </p:cNvPr>
          <p:cNvGrpSpPr/>
          <p:nvPr/>
        </p:nvGrpSpPr>
        <p:grpSpPr>
          <a:xfrm>
            <a:off x="2846728" y="4037588"/>
            <a:ext cx="6400800" cy="1371600"/>
            <a:chOff x="457200" y="4132968"/>
            <a:chExt cx="6400800" cy="1371600"/>
          </a:xfrm>
        </p:grpSpPr>
        <p:sp>
          <p:nvSpPr>
            <p:cNvPr id="54" name="Rectangle 55">
              <a:extLst>
                <a:ext uri="{FF2B5EF4-FFF2-40B4-BE49-F238E27FC236}">
                  <a16:creationId xmlns:a16="http://schemas.microsoft.com/office/drawing/2014/main" id="{16CF085F-CDF4-4F45-8373-9BF213E7B2A7}"/>
                </a:ext>
              </a:extLst>
            </p:cNvPr>
            <p:cNvSpPr/>
            <p:nvPr/>
          </p:nvSpPr>
          <p:spPr bwMode="auto">
            <a:xfrm>
              <a:off x="1447800" y="4132968"/>
              <a:ext cx="5410200" cy="1371600"/>
            </a:xfrm>
            <a:prstGeom prst="rect">
              <a:avLst/>
            </a:prstGeom>
            <a:solidFill>
              <a:srgbClr val="F1C7C7"/>
            </a:solidFill>
            <a:ln w="12700">
              <a:solidFill>
                <a:schemeClr val="tx1"/>
              </a:solidFill>
              <a:miter lim="800000"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5" name="Group 4">
              <a:extLst>
                <a:ext uri="{FF2B5EF4-FFF2-40B4-BE49-F238E27FC236}">
                  <a16:creationId xmlns:a16="http://schemas.microsoft.com/office/drawing/2014/main" id="{794249B8-8EAC-48D7-8F3A-74CC4CFFAF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24600" y="4507795"/>
              <a:ext cx="381000" cy="685800"/>
              <a:chOff x="3984" y="3264"/>
              <a:chExt cx="240" cy="432"/>
            </a:xfrm>
          </p:grpSpPr>
          <p:sp>
            <p:nvSpPr>
              <p:cNvPr id="61" name="Line 5">
                <a:extLst>
                  <a:ext uri="{FF2B5EF4-FFF2-40B4-BE49-F238E27FC236}">
                    <a16:creationId xmlns:a16="http://schemas.microsoft.com/office/drawing/2014/main" id="{8402E16B-8F12-4D00-A969-70839F39F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2" name="Line 6">
                <a:extLst>
                  <a:ext uri="{FF2B5EF4-FFF2-40B4-BE49-F238E27FC236}">
                    <a16:creationId xmlns:a16="http://schemas.microsoft.com/office/drawing/2014/main" id="{EDC8A145-29A9-4B77-94FD-484441532B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3" name="Line 7">
                <a:extLst>
                  <a:ext uri="{FF2B5EF4-FFF2-40B4-BE49-F238E27FC236}">
                    <a16:creationId xmlns:a16="http://schemas.microsoft.com/office/drawing/2014/main" id="{04954334-31AF-4524-B654-C1B78AA3D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grpSp>
          <p:nvGrpSpPr>
            <p:cNvPr id="56" name="Group 8">
              <a:extLst>
                <a:ext uri="{FF2B5EF4-FFF2-40B4-BE49-F238E27FC236}">
                  <a16:creationId xmlns:a16="http://schemas.microsoft.com/office/drawing/2014/main" id="{5AAE8DFA-6B46-481C-945E-A00C26257F79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 flipV="1">
              <a:off x="1676400" y="4507795"/>
              <a:ext cx="381000" cy="685800"/>
              <a:chOff x="3984" y="3264"/>
              <a:chExt cx="240" cy="432"/>
            </a:xfrm>
          </p:grpSpPr>
          <p:sp>
            <p:nvSpPr>
              <p:cNvPr id="58" name="Line 9">
                <a:extLst>
                  <a:ext uri="{FF2B5EF4-FFF2-40B4-BE49-F238E27FC236}">
                    <a16:creationId xmlns:a16="http://schemas.microsoft.com/office/drawing/2014/main" id="{33F25A27-AF52-4027-B5C8-7655DF4A54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3696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59" name="Line 10">
                <a:extLst>
                  <a:ext uri="{FF2B5EF4-FFF2-40B4-BE49-F238E27FC236}">
                    <a16:creationId xmlns:a16="http://schemas.microsoft.com/office/drawing/2014/main" id="{7C9CFC03-4501-4AFF-B5BC-97C9EC5984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4" y="3264"/>
                <a:ext cx="0" cy="43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  <p:sp>
            <p:nvSpPr>
              <p:cNvPr id="60" name="Line 11">
                <a:extLst>
                  <a:ext uri="{FF2B5EF4-FFF2-40B4-BE49-F238E27FC236}">
                    <a16:creationId xmlns:a16="http://schemas.microsoft.com/office/drawing/2014/main" id="{11192CD9-37CA-4EF6-A122-E6F79D349D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84" y="3264"/>
                <a:ext cx="24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 dirty="0">
                  <a:latin typeface="Calibri" pitchFamily="34" charset="0"/>
                </a:endParaRPr>
              </a:p>
            </p:txBody>
          </p:sp>
        </p:grpSp>
        <p:sp>
          <p:nvSpPr>
            <p:cNvPr id="57" name="Text Box 12">
              <a:extLst>
                <a:ext uri="{FF2B5EF4-FFF2-40B4-BE49-F238E27FC236}">
                  <a16:creationId xmlns:a16="http://schemas.microsoft.com/office/drawing/2014/main" id="{936D1CBF-97E1-4E20-86AB-E95A88D7DC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401432"/>
              <a:ext cx="838200" cy="82550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Client / Server</a:t>
              </a:r>
            </a:p>
            <a:p>
              <a:r>
                <a:rPr lang="en-US" sz="1600" dirty="0">
                  <a:solidFill>
                    <a:srgbClr val="C00000"/>
                  </a:solidFill>
                  <a:latin typeface="Calibri" pitchFamily="34" charset="0"/>
                </a:rPr>
                <a:t>Session</a:t>
              </a:r>
            </a:p>
          </p:txBody>
        </p: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7180C20-9FEA-4CE6-8F56-566DAEDBE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60657F8-34B2-4263-A68F-E3A1C321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Semantics</a:t>
            </a:r>
            <a:endParaRPr lang="ko-KR" altLang="en-US" dirty="0"/>
          </a:p>
        </p:txBody>
      </p:sp>
      <p:sp>
        <p:nvSpPr>
          <p:cNvPr id="11" name="Text Box 14">
            <a:extLst>
              <a:ext uri="{FF2B5EF4-FFF2-40B4-BE49-F238E27FC236}">
                <a16:creationId xmlns:a16="http://schemas.microsoft.com/office/drawing/2014/main" id="{3DF05F15-8072-43EB-B3FC-D51E2A9E8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6926" y="355461"/>
            <a:ext cx="912750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Client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A08AF867-429B-49C7-A37B-DEC2C6B16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4487" y="401627"/>
            <a:ext cx="184403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main thread</a:t>
            </a:r>
          </a:p>
        </p:txBody>
      </p:sp>
      <p:sp>
        <p:nvSpPr>
          <p:cNvPr id="13" name="Line 16">
            <a:extLst>
              <a:ext uri="{FF2B5EF4-FFF2-40B4-BE49-F238E27FC236}">
                <a16:creationId xmlns:a16="http://schemas.microsoft.com/office/drawing/2014/main" id="{87A39127-C6FB-4F32-9EB8-0FBDD5702F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6" y="1931281"/>
            <a:ext cx="0" cy="1676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17">
            <a:extLst>
              <a:ext uri="{FF2B5EF4-FFF2-40B4-BE49-F238E27FC236}">
                <a16:creationId xmlns:a16="http://schemas.microsoft.com/office/drawing/2014/main" id="{6D4D3AF7-351D-4006-A634-123BF2122874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18709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18">
            <a:extLst>
              <a:ext uri="{FF2B5EF4-FFF2-40B4-BE49-F238E27FC236}">
                <a16:creationId xmlns:a16="http://schemas.microsoft.com/office/drawing/2014/main" id="{D243F9FE-75D0-4432-8D97-87816F9E0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25567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19">
            <a:extLst>
              <a:ext uri="{FF2B5EF4-FFF2-40B4-BE49-F238E27FC236}">
                <a16:creationId xmlns:a16="http://schemas.microsoft.com/office/drawing/2014/main" id="{1FFDF83F-4DA2-466C-8D20-B8E11C4C8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3526" y="3242556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20">
            <a:extLst>
              <a:ext uri="{FF2B5EF4-FFF2-40B4-BE49-F238E27FC236}">
                <a16:creationId xmlns:a16="http://schemas.microsoft.com/office/drawing/2014/main" id="{29F6BDD1-F9DA-4B39-92D7-7CA3E7A87E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2726" y="3760081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Rectangle 21">
            <a:extLst>
              <a:ext uri="{FF2B5EF4-FFF2-40B4-BE49-F238E27FC236}">
                <a16:creationId xmlns:a16="http://schemas.microsoft.com/office/drawing/2014/main" id="{86C719AF-3DA3-4F1F-ABAA-1064A5529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15328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socket</a:t>
            </a:r>
          </a:p>
        </p:txBody>
      </p:sp>
      <p:sp>
        <p:nvSpPr>
          <p:cNvPr id="19" name="Rectangle 22">
            <a:extLst>
              <a:ext uri="{FF2B5EF4-FFF2-40B4-BE49-F238E27FC236}">
                <a16:creationId xmlns:a16="http://schemas.microsoft.com/office/drawing/2014/main" id="{D5EB59B4-4B01-483D-AB01-0FA2B1AE5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15328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socket</a:t>
            </a:r>
          </a:p>
        </p:txBody>
      </p:sp>
      <p:sp>
        <p:nvSpPr>
          <p:cNvPr id="20" name="Rectangle 23">
            <a:extLst>
              <a:ext uri="{FF2B5EF4-FFF2-40B4-BE49-F238E27FC236}">
                <a16:creationId xmlns:a16="http://schemas.microsoft.com/office/drawing/2014/main" id="{1AE48E40-BAAB-4BD6-AABB-46D64362E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220750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bind</a:t>
            </a:r>
          </a:p>
        </p:txBody>
      </p:sp>
      <p:sp>
        <p:nvSpPr>
          <p:cNvPr id="21" name="Rectangle 24">
            <a:extLst>
              <a:ext uri="{FF2B5EF4-FFF2-40B4-BE49-F238E27FC236}">
                <a16:creationId xmlns:a16="http://schemas.microsoft.com/office/drawing/2014/main" id="{9D7309C7-D80F-4831-AE6A-4645EF67FB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2882194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>
                <a:latin typeface="Courier New" pitchFamily="49" charset="0"/>
              </a:rPr>
              <a:t>listen</a:t>
            </a:r>
          </a:p>
        </p:txBody>
      </p:sp>
      <p:grpSp>
        <p:nvGrpSpPr>
          <p:cNvPr id="22" name="Group 25">
            <a:extLst>
              <a:ext uri="{FF2B5EF4-FFF2-40B4-BE49-F238E27FC236}">
                <a16:creationId xmlns:a16="http://schemas.microsoft.com/office/drawing/2014/main" id="{63498B43-1426-4097-AA9E-D7B227CDE964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928356"/>
            <a:ext cx="4267200" cy="1392238"/>
            <a:chOff x="1296" y="2506"/>
            <a:chExt cx="2688" cy="877"/>
          </a:xfrm>
        </p:grpSpPr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BE533C86-358E-4608-9E8A-00881EC184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4" name="Line 27">
              <a:extLst>
                <a:ext uri="{FF2B5EF4-FFF2-40B4-BE49-F238E27FC236}">
                  <a16:creationId xmlns:a16="http://schemas.microsoft.com/office/drawing/2014/main" id="{999F757F-C83D-4940-B294-0F29B24862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5" name="Line 28">
              <a:extLst>
                <a:ext uri="{FF2B5EF4-FFF2-40B4-BE49-F238E27FC236}">
                  <a16:creationId xmlns:a16="http://schemas.microsoft.com/office/drawing/2014/main" id="{54A20264-8C9D-44E6-9089-896AE64EB4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506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3E3DF509-B68B-4C99-B9FD-0E8808402E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93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1B7259DF-03D0-4FE2-91B5-C91F8B6BBD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56" y="2832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8" name="Line 31">
              <a:extLst>
                <a:ext uri="{FF2B5EF4-FFF2-40B4-BE49-F238E27FC236}">
                  <a16:creationId xmlns:a16="http://schemas.microsoft.com/office/drawing/2014/main" id="{80627679-DB93-40F6-BA80-18F0F031ED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3264"/>
              <a:ext cx="8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29" name="Rectangle 32">
              <a:extLst>
                <a:ext uri="{FF2B5EF4-FFF2-40B4-BE49-F238E27FC236}">
                  <a16:creationId xmlns:a16="http://schemas.microsoft.com/office/drawing/2014/main" id="{195C5E07-B3F4-44AE-9C3C-DFE2C09502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271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0" name="Rectangle 33">
              <a:extLst>
                <a:ext uri="{FF2B5EF4-FFF2-40B4-BE49-F238E27FC236}">
                  <a16:creationId xmlns:a16="http://schemas.microsoft.com/office/drawing/2014/main" id="{F5AA4883-B53B-4D44-9AF1-7DCF83F2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43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  <p:sp>
          <p:nvSpPr>
            <p:cNvPr id="31" name="Rectangle 34">
              <a:extLst>
                <a:ext uri="{FF2B5EF4-FFF2-40B4-BE49-F238E27FC236}">
                  <a16:creationId xmlns:a16="http://schemas.microsoft.com/office/drawing/2014/main" id="{D18C1956-578F-464A-8821-FAB143329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143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32" name="Rectangle 35">
              <a:extLst>
                <a:ext uri="{FF2B5EF4-FFF2-40B4-BE49-F238E27FC236}">
                  <a16:creationId xmlns:a16="http://schemas.microsoft.com/office/drawing/2014/main" id="{A5B8237B-FCBF-45D7-AFBE-B77078ACC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718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write</a:t>
              </a:r>
            </a:p>
          </p:txBody>
        </p:sp>
      </p:grpSp>
      <p:sp>
        <p:nvSpPr>
          <p:cNvPr id="33" name="Text Box 36">
            <a:extLst>
              <a:ext uri="{FF2B5EF4-FFF2-40B4-BE49-F238E27FC236}">
                <a16:creationId xmlns:a16="http://schemas.microsoft.com/office/drawing/2014/main" id="{F2CCCAA2-A439-4D51-A4E1-AFD0EFFE83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7128" y="3150481"/>
            <a:ext cx="115608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>
                <a:latin typeface="Calibri" pitchFamily="34" charset="0"/>
              </a:rPr>
              <a:t>Connection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request</a:t>
            </a:r>
          </a:p>
        </p:txBody>
      </p:sp>
      <p:grpSp>
        <p:nvGrpSpPr>
          <p:cNvPr id="34" name="Group 37">
            <a:extLst>
              <a:ext uri="{FF2B5EF4-FFF2-40B4-BE49-F238E27FC236}">
                <a16:creationId xmlns:a16="http://schemas.microsoft.com/office/drawing/2014/main" id="{7297488F-F16C-4FE1-B1E6-124165147430}"/>
              </a:ext>
            </a:extLst>
          </p:cNvPr>
          <p:cNvGrpSpPr>
            <a:grpSpLocks/>
          </p:cNvGrpSpPr>
          <p:nvPr/>
        </p:nvGrpSpPr>
        <p:grpSpPr bwMode="auto">
          <a:xfrm>
            <a:off x="4472126" y="3773051"/>
            <a:ext cx="5105400" cy="2911475"/>
            <a:chOff x="1296" y="2400"/>
            <a:chExt cx="3216" cy="1834"/>
          </a:xfrm>
        </p:grpSpPr>
        <p:sp>
          <p:nvSpPr>
            <p:cNvPr id="35" name="Line 38">
              <a:extLst>
                <a:ext uri="{FF2B5EF4-FFF2-40B4-BE49-F238E27FC236}">
                  <a16:creationId xmlns:a16="http://schemas.microsoft.com/office/drawing/2014/main" id="{7546587C-599F-4668-9F2F-135E9FC48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6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6" name="Line 39">
              <a:extLst>
                <a:ext uri="{FF2B5EF4-FFF2-40B4-BE49-F238E27FC236}">
                  <a16:creationId xmlns:a16="http://schemas.microsoft.com/office/drawing/2014/main" id="{78AF1981-FE81-4181-8747-B85769F2D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370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7" name="Line 40">
              <a:extLst>
                <a:ext uri="{FF2B5EF4-FFF2-40B4-BE49-F238E27FC236}">
                  <a16:creationId xmlns:a16="http://schemas.microsoft.com/office/drawing/2014/main" id="{35971F51-378B-46DE-8A00-D9C101141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80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8" name="Line 41">
              <a:extLst>
                <a:ext uri="{FF2B5EF4-FFF2-40B4-BE49-F238E27FC236}">
                  <a16:creationId xmlns:a16="http://schemas.microsoft.com/office/drawing/2014/main" id="{C09B9160-2394-4E0B-9510-54B219C7FE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20" y="3696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39" name="Rectangle 42">
              <a:extLst>
                <a:ext uri="{FF2B5EF4-FFF2-40B4-BE49-F238E27FC236}">
                  <a16:creationId xmlns:a16="http://schemas.microsoft.com/office/drawing/2014/main" id="{2BF24620-CD19-4072-A1CC-15A321FEA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568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 dirty="0">
                  <a:latin typeface="Courier New" pitchFamily="49" charset="0"/>
                </a:rPr>
                <a:t>read</a:t>
              </a:r>
            </a:p>
          </p:txBody>
        </p:sp>
        <p:sp>
          <p:nvSpPr>
            <p:cNvPr id="40" name="Rectangle 43">
              <a:extLst>
                <a:ext uri="{FF2B5EF4-FFF2-40B4-BE49-F238E27FC236}">
                  <a16:creationId xmlns:a16="http://schemas.microsoft.com/office/drawing/2014/main" id="{34E1A758-8AA9-4AE1-BD55-3073F1CC2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994"/>
              <a:ext cx="912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1" name="Rectangle 44">
              <a:extLst>
                <a:ext uri="{FF2B5EF4-FFF2-40B4-BE49-F238E27FC236}">
                  <a16:creationId xmlns:a16="http://schemas.microsoft.com/office/drawing/2014/main" id="{86CAF4AB-45B3-4BFD-BB72-187BFB3034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3569"/>
              <a:ext cx="960" cy="240"/>
            </a:xfrm>
            <a:prstGeom prst="rect">
              <a:avLst/>
            </a:prstGeom>
            <a:solidFill>
              <a:srgbClr val="D5F1C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r>
                <a:rPr lang="en-US" sz="1400">
                  <a:latin typeface="Courier New" pitchFamily="49" charset="0"/>
                </a:rPr>
                <a:t>close</a:t>
              </a:r>
            </a:p>
          </p:txBody>
        </p:sp>
        <p:sp>
          <p:nvSpPr>
            <p:cNvPr id="42" name="Text Box 45">
              <a:extLst>
                <a:ext uri="{FF2B5EF4-FFF2-40B4-BE49-F238E27FC236}">
                  <a16:creationId xmlns:a16="http://schemas.microsoft.com/office/drawing/2014/main" id="{16CFF2ED-9813-4B37-AD75-3B3E48744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24"/>
              <a:ext cx="298" cy="19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anchor="ctr">
              <a:spAutoFit/>
            </a:bodyPr>
            <a:lstStyle/>
            <a:p>
              <a:pPr algn="ctr"/>
              <a:r>
                <a:rPr lang="en-US" sz="1400" dirty="0">
                  <a:latin typeface="Calibri" pitchFamily="34" charset="0"/>
                </a:rPr>
                <a:t>EOF</a:t>
              </a:r>
            </a:p>
          </p:txBody>
        </p:sp>
        <p:sp>
          <p:nvSpPr>
            <p:cNvPr id="43" name="Line 46">
              <a:extLst>
                <a:ext uri="{FF2B5EF4-FFF2-40B4-BE49-F238E27FC236}">
                  <a16:creationId xmlns:a16="http://schemas.microsoft.com/office/drawing/2014/main" id="{3BE5B45D-25F6-4BC8-8891-E11AE7205D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4128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4" name="Line 47">
              <a:extLst>
                <a:ext uri="{FF2B5EF4-FFF2-40B4-BE49-F238E27FC236}">
                  <a16:creationId xmlns:a16="http://schemas.microsoft.com/office/drawing/2014/main" id="{71706A8E-C268-4A7E-B399-321F7D86E2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2" y="2400"/>
              <a:ext cx="0" cy="17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  <p:sp>
          <p:nvSpPr>
            <p:cNvPr id="45" name="Line 48">
              <a:extLst>
                <a:ext uri="{FF2B5EF4-FFF2-40B4-BE49-F238E27FC236}">
                  <a16:creationId xmlns:a16="http://schemas.microsoft.com/office/drawing/2014/main" id="{01291363-DF30-45CA-A2A3-F3C305A6B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2400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dirty="0">
                <a:latin typeface="Calibri" pitchFamily="34" charset="0"/>
              </a:endParaRPr>
            </a:p>
          </p:txBody>
        </p:sp>
      </p:grpSp>
      <p:sp>
        <p:nvSpPr>
          <p:cNvPr id="47" name="Rectangle 54">
            <a:extLst>
              <a:ext uri="{FF2B5EF4-FFF2-40B4-BE49-F238E27FC236}">
                <a16:creationId xmlns:a16="http://schemas.microsoft.com/office/drawing/2014/main" id="{67109CB3-299C-4143-B683-903D2EFAE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1526" y="3590219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accept</a:t>
            </a:r>
          </a:p>
        </p:txBody>
      </p:sp>
      <p:sp>
        <p:nvSpPr>
          <p:cNvPr id="48" name="Rectangle 55">
            <a:extLst>
              <a:ext uri="{FF2B5EF4-FFF2-40B4-BE49-F238E27FC236}">
                <a16:creationId xmlns:a16="http://schemas.microsoft.com/office/drawing/2014/main" id="{1428DEAE-2C13-4BA2-BC52-8F9256FAF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6" y="3590219"/>
            <a:ext cx="15240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Courier New" pitchFamily="49" charset="0"/>
              </a:rPr>
              <a:t>connect</a:t>
            </a:r>
          </a:p>
        </p:txBody>
      </p:sp>
      <p:sp>
        <p:nvSpPr>
          <p:cNvPr id="49" name="Line 17">
            <a:extLst>
              <a:ext uri="{FF2B5EF4-FFF2-40B4-BE49-F238E27FC236}">
                <a16:creationId xmlns:a16="http://schemas.microsoft.com/office/drawing/2014/main" id="{B4AE4693-14D4-4030-B823-ED8FE1B54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82328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Rectangle 22">
            <a:extLst>
              <a:ext uri="{FF2B5EF4-FFF2-40B4-BE49-F238E27FC236}">
                <a16:creationId xmlns:a16="http://schemas.microsoft.com/office/drawing/2014/main" id="{D48939B0-8B91-4B22-A4D6-A650317DE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20328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51" name="Line 17">
            <a:extLst>
              <a:ext uri="{FF2B5EF4-FFF2-40B4-BE49-F238E27FC236}">
                <a16:creationId xmlns:a16="http://schemas.microsoft.com/office/drawing/2014/main" id="{119C3BA4-8D8E-49A5-9FB1-5CFD5E6359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34127" y="1193363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Rectangle 22">
            <a:extLst>
              <a:ext uri="{FF2B5EF4-FFF2-40B4-BE49-F238E27FC236}">
                <a16:creationId xmlns:a16="http://schemas.microsoft.com/office/drawing/2014/main" id="{C1E5CD74-9FD4-41C6-AC7C-6AE8C2FC3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2127" y="855226"/>
            <a:ext cx="1447800" cy="381000"/>
          </a:xfrm>
          <a:prstGeom prst="rect">
            <a:avLst/>
          </a:prstGeom>
          <a:solidFill>
            <a:srgbClr val="D5F1CF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 dirty="0" err="1">
                <a:latin typeface="Courier New" pitchFamily="49" charset="0"/>
              </a:rPr>
              <a:t>getaddrinfo</a:t>
            </a:r>
            <a:endParaRPr lang="en-US" sz="1400" dirty="0">
              <a:latin typeface="Courier New" pitchFamily="49" charset="0"/>
            </a:endParaRPr>
          </a:p>
        </p:txBody>
      </p:sp>
      <p:sp>
        <p:nvSpPr>
          <p:cNvPr id="64" name="Line 6">
            <a:extLst>
              <a:ext uri="{FF2B5EF4-FFF2-40B4-BE49-F238E27FC236}">
                <a16:creationId xmlns:a16="http://schemas.microsoft.com/office/drawing/2014/main" id="{25E12CE4-587D-478F-A61A-7BA446C213A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053524" y="3084948"/>
            <a:ext cx="1066791" cy="15760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5" name="Line 6">
            <a:extLst>
              <a:ext uri="{FF2B5EF4-FFF2-40B4-BE49-F238E27FC236}">
                <a16:creationId xmlns:a16="http://schemas.microsoft.com/office/drawing/2014/main" id="{2D6842CC-0B62-4B6A-8C3B-67C24756FE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38041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6" name="Line 6">
            <a:extLst>
              <a:ext uri="{FF2B5EF4-FFF2-40B4-BE49-F238E27FC236}">
                <a16:creationId xmlns:a16="http://schemas.microsoft.com/office/drawing/2014/main" id="{FDBE848E-972B-4DDC-88C3-18CBD4C96AE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88063" y="153740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7" name="Line 6">
            <a:extLst>
              <a:ext uri="{FF2B5EF4-FFF2-40B4-BE49-F238E27FC236}">
                <a16:creationId xmlns:a16="http://schemas.microsoft.com/office/drawing/2014/main" id="{1EAE09B9-05F5-4E76-86C1-7D8C1F9C4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69265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9" name="Line 6">
            <a:extLst>
              <a:ext uri="{FF2B5EF4-FFF2-40B4-BE49-F238E27FC236}">
                <a16:creationId xmlns:a16="http://schemas.microsoft.com/office/drawing/2014/main" id="{D6466D9A-7382-4F53-A74D-A0E07CBE73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88063" y="1825363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0" name="Line 6">
            <a:extLst>
              <a:ext uri="{FF2B5EF4-FFF2-40B4-BE49-F238E27FC236}">
                <a16:creationId xmlns:a16="http://schemas.microsoft.com/office/drawing/2014/main" id="{4B61A5DC-68FB-4186-9720-EA36448C102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88063" y="198060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1" name="Line 6">
            <a:extLst>
              <a:ext uri="{FF2B5EF4-FFF2-40B4-BE49-F238E27FC236}">
                <a16:creationId xmlns:a16="http://schemas.microsoft.com/office/drawing/2014/main" id="{2DA3A09D-A59A-4357-BC1D-741B260AA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2" name="Line 6">
            <a:extLst>
              <a:ext uri="{FF2B5EF4-FFF2-40B4-BE49-F238E27FC236}">
                <a16:creationId xmlns:a16="http://schemas.microsoft.com/office/drawing/2014/main" id="{6ECC331A-EEA6-4C41-AE68-F11541188BD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3112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3" name="Line 6">
            <a:extLst>
              <a:ext uri="{FF2B5EF4-FFF2-40B4-BE49-F238E27FC236}">
                <a16:creationId xmlns:a16="http://schemas.microsoft.com/office/drawing/2014/main" id="{500EAF10-86B0-4BE8-9074-9A84F03FB1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4" name="Line 6">
            <a:extLst>
              <a:ext uri="{FF2B5EF4-FFF2-40B4-BE49-F238E27FC236}">
                <a16:creationId xmlns:a16="http://schemas.microsoft.com/office/drawing/2014/main" id="{3FB24EC8-56AE-4414-8304-DA6DFCE784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3112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5" name="Line 6">
            <a:extLst>
              <a:ext uri="{FF2B5EF4-FFF2-40B4-BE49-F238E27FC236}">
                <a16:creationId xmlns:a16="http://schemas.microsoft.com/office/drawing/2014/main" id="{E718EAAA-294E-4A8B-A105-42C0450E39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33112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6" name="Line 6">
            <a:extLst>
              <a:ext uri="{FF2B5EF4-FFF2-40B4-BE49-F238E27FC236}">
                <a16:creationId xmlns:a16="http://schemas.microsoft.com/office/drawing/2014/main" id="{68801BDF-8414-4F25-8786-E98CB3D68D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7" name="Line 6">
            <a:extLst>
              <a:ext uri="{FF2B5EF4-FFF2-40B4-BE49-F238E27FC236}">
                <a16:creationId xmlns:a16="http://schemas.microsoft.com/office/drawing/2014/main" id="{04BF70FA-38BD-43E7-91BF-95A82D2CAA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76126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8" name="Line 6">
            <a:extLst>
              <a:ext uri="{FF2B5EF4-FFF2-40B4-BE49-F238E27FC236}">
                <a16:creationId xmlns:a16="http://schemas.microsoft.com/office/drawing/2014/main" id="{39077D72-79DE-4612-8211-4FCC692C8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9" name="Line 6">
            <a:extLst>
              <a:ext uri="{FF2B5EF4-FFF2-40B4-BE49-F238E27FC236}">
                <a16:creationId xmlns:a16="http://schemas.microsoft.com/office/drawing/2014/main" id="{70633955-78E4-4AD2-8AD0-724D663762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76126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0" name="Line 6">
            <a:extLst>
              <a:ext uri="{FF2B5EF4-FFF2-40B4-BE49-F238E27FC236}">
                <a16:creationId xmlns:a16="http://schemas.microsoft.com/office/drawing/2014/main" id="{45621663-ED0F-4AD1-82D2-E57414BCFE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6126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1" name="Line 6">
            <a:extLst>
              <a:ext uri="{FF2B5EF4-FFF2-40B4-BE49-F238E27FC236}">
                <a16:creationId xmlns:a16="http://schemas.microsoft.com/office/drawing/2014/main" id="{F9947B52-41BD-485E-A9F6-5DFA0B30AF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B56DFC14-F01F-4BF9-ACFD-33D3125A63E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4025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3" name="Line 6">
            <a:extLst>
              <a:ext uri="{FF2B5EF4-FFF2-40B4-BE49-F238E27FC236}">
                <a16:creationId xmlns:a16="http://schemas.microsoft.com/office/drawing/2014/main" id="{3064ECB8-D2F6-4EA8-A05C-F885778BF3F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" name="Line 6">
            <a:extLst>
              <a:ext uri="{FF2B5EF4-FFF2-40B4-BE49-F238E27FC236}">
                <a16:creationId xmlns:a16="http://schemas.microsoft.com/office/drawing/2014/main" id="{A3D1AB85-144D-4D85-9085-B26EA1F4ADF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04025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5" name="Line 6">
            <a:extLst>
              <a:ext uri="{FF2B5EF4-FFF2-40B4-BE49-F238E27FC236}">
                <a16:creationId xmlns:a16="http://schemas.microsoft.com/office/drawing/2014/main" id="{2B31CD92-0BAD-4759-BF5E-523183528A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025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542BB-A5B6-43DC-80DF-4340871C9B34}"/>
              </a:ext>
            </a:extLst>
          </p:cNvPr>
          <p:cNvSpPr txBox="1"/>
          <p:nvPr/>
        </p:nvSpPr>
        <p:spPr>
          <a:xfrm>
            <a:off x="7412715" y="1516664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3BA10577-D119-49DD-BD8E-125CAB638BB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37414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7" name="Line 6">
            <a:extLst>
              <a:ext uri="{FF2B5EF4-FFF2-40B4-BE49-F238E27FC236}">
                <a16:creationId xmlns:a16="http://schemas.microsoft.com/office/drawing/2014/main" id="{453BF660-BC31-4887-92FA-5A7CAC6D48E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7150" y="1531128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8" name="Line 6">
            <a:extLst>
              <a:ext uri="{FF2B5EF4-FFF2-40B4-BE49-F238E27FC236}">
                <a16:creationId xmlns:a16="http://schemas.microsoft.com/office/drawing/2014/main" id="{49B346CA-25BB-4330-8272-0B383AC359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686373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F325348B-E787-4308-BBAA-02E302F085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17150" y="18190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0" name="Line 6">
            <a:extLst>
              <a:ext uri="{FF2B5EF4-FFF2-40B4-BE49-F238E27FC236}">
                <a16:creationId xmlns:a16="http://schemas.microsoft.com/office/drawing/2014/main" id="{B75D1388-A17C-4DA3-915E-360830B1C9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17150" y="19743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1" name="Text Box 15">
            <a:extLst>
              <a:ext uri="{FF2B5EF4-FFF2-40B4-BE49-F238E27FC236}">
                <a16:creationId xmlns:a16="http://schemas.microsoft.com/office/drawing/2014/main" id="{0A793CF5-7CF2-45FE-806A-8D69A91AA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1704" y="988418"/>
            <a:ext cx="210884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worker threads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88268A5-C4FD-4875-BF6E-7CF61F352EFA}"/>
              </a:ext>
            </a:extLst>
          </p:cNvPr>
          <p:cNvSpPr/>
          <p:nvPr/>
        </p:nvSpPr>
        <p:spPr>
          <a:xfrm>
            <a:off x="10085033" y="3928356"/>
            <a:ext cx="1381617" cy="16988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93" name="화살표: 왼쪽/오른쪽 92">
            <a:extLst>
              <a:ext uri="{FF2B5EF4-FFF2-40B4-BE49-F238E27FC236}">
                <a16:creationId xmlns:a16="http://schemas.microsoft.com/office/drawing/2014/main" id="{B445017B-6CD7-4B00-A981-8583988D4399}"/>
              </a:ext>
            </a:extLst>
          </p:cNvPr>
          <p:cNvSpPr/>
          <p:nvPr/>
        </p:nvSpPr>
        <p:spPr>
          <a:xfrm>
            <a:off x="9357064" y="4527612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 Box 36">
            <a:extLst>
              <a:ext uri="{FF2B5EF4-FFF2-40B4-BE49-F238E27FC236}">
                <a16:creationId xmlns:a16="http://schemas.microsoft.com/office/drawing/2014/main" id="{7E65E55E-D65F-4F8A-9BD9-AAE250F61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745" y="2849214"/>
            <a:ext cx="899413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sz="1600" dirty="0" err="1">
                <a:latin typeface="Calibri" pitchFamily="34" charset="0"/>
              </a:rPr>
              <a:t>listen_fd</a:t>
            </a:r>
            <a:endParaRPr lang="en-US" sz="16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4718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1342A5-882D-4F9B-8483-7867325A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BE814B-0C62-4066-BFDF-C7E4C06A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Why Static 10 Threads? Any Other Ways for Concurrency?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EE6D5-5F8C-4DC6-B06E-BF654C0BA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What you have learned</a:t>
            </a:r>
          </a:p>
          <a:p>
            <a:pPr lvl="1"/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accept(), read(), and write() </a:t>
            </a:r>
            <a:r>
              <a:rPr lang="en-US" altLang="ko-KR" dirty="0"/>
              <a:t>are blocking..</a:t>
            </a:r>
          </a:p>
          <a:p>
            <a:pPr lvl="1"/>
            <a:r>
              <a:rPr lang="en-US" altLang="ko-KR" dirty="0"/>
              <a:t>What if dynamically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fork() /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for every clients?</a:t>
            </a:r>
          </a:p>
          <a:p>
            <a:pPr marL="457189" lvl="1" indent="0">
              <a:buNone/>
            </a:pPr>
            <a:r>
              <a:rPr lang="en-US" altLang="ko-KR" dirty="0"/>
              <a:t>(+) Easy to implement</a:t>
            </a:r>
          </a:p>
          <a:p>
            <a:pPr marL="457189" lvl="1" indent="0">
              <a:buNone/>
            </a:pPr>
            <a:r>
              <a:rPr lang="en-US" altLang="ko-KR" dirty="0"/>
              <a:t>(+) Easy to leverage multiple cores</a:t>
            </a:r>
          </a:p>
          <a:p>
            <a:endParaRPr lang="en-US" altLang="ko-KR" dirty="0"/>
          </a:p>
          <a:p>
            <a:r>
              <a:rPr lang="en-US" altLang="ko-KR" dirty="0"/>
              <a:t>Reality..</a:t>
            </a:r>
          </a:p>
          <a:p>
            <a:pPr marL="457189" lvl="1" indent="0">
              <a:buNone/>
            </a:pPr>
            <a:r>
              <a:rPr lang="en-US" altLang="ko-KR" dirty="0"/>
              <a:t>(--) Wastes system resources</a:t>
            </a:r>
          </a:p>
          <a:p>
            <a:pPr marL="457189" lvl="1" indent="0">
              <a:buNone/>
            </a:pPr>
            <a:r>
              <a:rPr lang="en-US" altLang="ko-KR" dirty="0"/>
              <a:t>(--) Poor performance due to creating processes or threads</a:t>
            </a:r>
          </a:p>
          <a:p>
            <a:pPr marL="457189" lvl="1" indent="0">
              <a:buNone/>
            </a:pPr>
            <a:r>
              <a:rPr lang="en-US" altLang="ko-KR" dirty="0"/>
              <a:t>(--) Poor performance due to context switching</a:t>
            </a:r>
          </a:p>
          <a:p>
            <a:pPr lvl="1"/>
            <a:r>
              <a:rPr lang="en-US" altLang="ko-KR" dirty="0"/>
              <a:t>Using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fork() /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altLang="ko-KR" dirty="0"/>
              <a:t>for each request is inefficient (heavyweight)</a:t>
            </a:r>
          </a:p>
        </p:txBody>
      </p:sp>
    </p:spTree>
    <p:extLst>
      <p:ext uri="{BB962C8B-B14F-4D97-AF65-F5344CB8AC3E}">
        <p14:creationId xmlns:p14="http://schemas.microsoft.com/office/powerpoint/2010/main" val="75966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1342A5-882D-4F9B-8483-7867325AC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BE814B-0C62-4066-BFDF-C7E4C06A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Event-Driven Socket Programming (Out of Scope)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E9EE6D5-5F8C-4DC6-B06E-BF654C0BAB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Set the sockets non-blocking</a:t>
            </a:r>
          </a:p>
          <a:p>
            <a:r>
              <a:rPr lang="en-US" altLang="ko-KR" dirty="0"/>
              <a:t>Use event-driven API (e.g.,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epoll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Static threads to leverage multiple cores</a:t>
            </a:r>
          </a:p>
          <a:p>
            <a:r>
              <a:rPr lang="en-US" altLang="ko-KR" dirty="0"/>
              <a:t>Then,</a:t>
            </a:r>
          </a:p>
          <a:p>
            <a:pPr marL="457189" lvl="1" indent="0">
              <a:buNone/>
            </a:pPr>
            <a:r>
              <a:rPr lang="en-US" altLang="ko-KR" dirty="0"/>
              <a:t>(+) Best performance</a:t>
            </a:r>
          </a:p>
          <a:p>
            <a:pPr lvl="2"/>
            <a:r>
              <a:rPr lang="en-US" altLang="ko-KR" dirty="0"/>
              <a:t>Supports concurrency without context switching</a:t>
            </a:r>
          </a:p>
          <a:p>
            <a:pPr lvl="2"/>
            <a:r>
              <a:rPr lang="en-US" altLang="ko-KR" dirty="0"/>
              <a:t>Small number of threads</a:t>
            </a:r>
          </a:p>
          <a:p>
            <a:pPr marL="457189" lvl="1" indent="0">
              <a:buNone/>
            </a:pPr>
            <a:r>
              <a:rPr lang="en-US" altLang="ko-KR" dirty="0"/>
              <a:t>(--) Hard to implement using event-driven APIs</a:t>
            </a:r>
          </a:p>
          <a:p>
            <a:pPr marL="457189" lvl="1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è"/>
            </a:pPr>
            <a:r>
              <a:rPr lang="en-US" altLang="ko-KR" dirty="0">
                <a:sym typeface="Wingdings" panose="05000000000000000000" pitchFamily="2" charset="2"/>
              </a:rPr>
              <a:t>Workaround: Simply use static threads for this assignment! </a:t>
            </a:r>
          </a:p>
        </p:txBody>
      </p:sp>
    </p:spTree>
    <p:extLst>
      <p:ext uri="{BB962C8B-B14F-4D97-AF65-F5344CB8AC3E}">
        <p14:creationId xmlns:p14="http://schemas.microsoft.com/office/powerpoint/2010/main" val="11559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6B6035A-85A9-49B0-BA50-B4F161A0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0B1E9A9-DE2B-40CE-902F-C1AB87C8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SKVS API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8E0A3D-A575-46B4-8BA1-F97F690AB2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Helper API for parsing and processing the SKVS requests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skvs_init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hash_size</a:t>
            </a:r>
            <a:r>
              <a:rPr lang="en-US" altLang="ko-K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int delay)</a:t>
            </a:r>
          </a:p>
          <a:p>
            <a:pPr lvl="1"/>
            <a:r>
              <a:rPr lang="en-US" altLang="ko-KR" dirty="0"/>
              <a:t>Initiates SKVS context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skvs_destroy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int dump)</a:t>
            </a:r>
          </a:p>
          <a:p>
            <a:pPr lvl="1"/>
            <a:r>
              <a:rPr lang="en-US" altLang="ko-KR" dirty="0"/>
              <a:t>Destroys SKVS context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skvs_serve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(struct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rbuf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rlen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wbuf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wlen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Writes a complete response to </a:t>
            </a:r>
            <a:r>
              <a:rPr lang="en-US" altLang="ko-KR" dirty="0" err="1">
                <a:ea typeface="Tahoma" panose="020B0604030504040204" pitchFamily="34" charset="0"/>
              </a:rPr>
              <a:t>wbuf</a:t>
            </a:r>
            <a:r>
              <a:rPr lang="en-US" altLang="ko-KR" dirty="0">
                <a:ea typeface="Tahoma" panose="020B0604030504040204" pitchFamily="34" charset="0"/>
              </a:rPr>
              <a:t> for the given SKVS request in </a:t>
            </a:r>
            <a:r>
              <a:rPr lang="en-US" altLang="ko-KR" dirty="0" err="1">
                <a:ea typeface="Tahoma" panose="020B0604030504040204" pitchFamily="34" charset="0"/>
              </a:rPr>
              <a:t>rbuf</a:t>
            </a:r>
            <a:endParaRPr lang="en-US" altLang="ko-KR" dirty="0">
              <a:ea typeface="Tahoma" panose="020B0604030504040204" pitchFamily="34" charset="0"/>
            </a:endParaRP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e.g., [value]\n, “INVALID CMD\n”, “CREATE OK\n”, “UPDATE OK\n”, “COLLISION\n”, …</a:t>
            </a:r>
          </a:p>
        </p:txBody>
      </p:sp>
    </p:spTree>
    <p:extLst>
      <p:ext uri="{BB962C8B-B14F-4D97-AF65-F5344CB8AC3E}">
        <p14:creationId xmlns:p14="http://schemas.microsoft.com/office/powerpoint/2010/main" val="3948869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Server Requirement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933991D-704E-4D3C-871B-AA1B271CBD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Your server should serve </a:t>
            </a:r>
            <a:r>
              <a:rPr lang="en-US" altLang="ko-KR" dirty="0">
                <a:solidFill>
                  <a:srgbClr val="FF0000"/>
                </a:solidFill>
              </a:rPr>
              <a:t>~10</a:t>
            </a:r>
            <a:r>
              <a:rPr lang="en-US" altLang="ko-KR" dirty="0"/>
              <a:t> concurrent clients</a:t>
            </a:r>
          </a:p>
          <a:p>
            <a:r>
              <a:rPr lang="en-US" altLang="ko-KR" dirty="0"/>
              <a:t>Your server should </a:t>
            </a:r>
            <a:r>
              <a:rPr lang="en-US" altLang="ko-KR" dirty="0">
                <a:solidFill>
                  <a:srgbClr val="FF0000"/>
                </a:solidFill>
              </a:rPr>
              <a:t>interoperate with reference client</a:t>
            </a:r>
          </a:p>
          <a:p>
            <a:endParaRPr lang="en-US" altLang="ko-KR" dirty="0"/>
          </a:p>
          <a:p>
            <a:pPr>
              <a:defRPr/>
            </a:pPr>
            <a:r>
              <a:rPr lang="en-US" altLang="ko-KR" b="0" i="0" dirty="0">
                <a:solidFill>
                  <a:srgbClr val="1F1F1F"/>
                </a:solidFill>
                <a:effectLst/>
                <a:ea typeface="Tahoma" panose="020B0604030504040204" pitchFamily="34" charset="0"/>
              </a:rPr>
              <a:t>Reference server/client binaries will be provided</a:t>
            </a:r>
          </a:p>
          <a:p>
            <a:pPr lvl="1"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No support for Mac, windows (but, will work on WSL)</a:t>
            </a:r>
          </a:p>
          <a:p>
            <a:pPr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For usage, refer to the reference server/client</a:t>
            </a:r>
            <a:endParaRPr lang="en-US" altLang="ko-KR" dirty="0"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727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462D8EF7-A41B-4DC9-B8C6-08E6E1264F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Interactive mode for your better understanding and testing</a:t>
            </a:r>
          </a:p>
          <a:p>
            <a:pPr lvl="1"/>
            <a:r>
              <a:rPr lang="en-US" altLang="ko-KR" dirty="0">
                <a:ea typeface="Tahoma" panose="020B0604030504040204" pitchFamily="34" charset="0"/>
              </a:rPr>
              <a:t>Try it using our reference client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29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Usage Example for Interactive Mode (client w/ -t)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F81560-0109-45E2-935B-FC20FDDE9F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63105"/>
          <a:stretch/>
        </p:blipFill>
        <p:spPr>
          <a:xfrm>
            <a:off x="3065088" y="2976800"/>
            <a:ext cx="5582429" cy="956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592CFA9-879E-4BEF-8D5E-22C1866927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358"/>
          <a:stretch/>
        </p:blipFill>
        <p:spPr>
          <a:xfrm>
            <a:off x="3065088" y="4000525"/>
            <a:ext cx="5582429" cy="81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48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B0936DC5-3F4E-45D9-AAD6-980571302E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dirty="0">
                <a:ea typeface="Tahoma" panose="020B0604030504040204" pitchFamily="34" charset="0"/>
              </a:rPr>
              <a:t>On the client, SKVS responses will be printed out to </a:t>
            </a:r>
            <a:r>
              <a:rPr lang="en-US" altLang="ko-KR" dirty="0" err="1">
                <a:ea typeface="Tahoma" panose="020B0604030504040204" pitchFamily="34" charset="0"/>
              </a:rPr>
              <a:t>stdout</a:t>
            </a:r>
            <a:endParaRPr lang="en-US" altLang="ko-KR" dirty="0">
              <a:ea typeface="Tahoma" panose="020B0604030504040204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2784344-EF46-4397-AB25-1B9853FAB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10E5F1C-2CE1-469E-9362-053DCABA3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Usage Example for Silent Mode (client w/o -t)</a:t>
            </a: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64493ED6-EFEA-436E-BB67-F867B3EB0C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266"/>
          <a:stretch/>
        </p:blipFill>
        <p:spPr>
          <a:xfrm>
            <a:off x="3142838" y="2850215"/>
            <a:ext cx="5906324" cy="94383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62A1C717-AFE0-4EFB-BD2D-FFC7CB395D8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8395" b="1"/>
          <a:stretch/>
        </p:blipFill>
        <p:spPr>
          <a:xfrm>
            <a:off x="3142838" y="3891702"/>
            <a:ext cx="5906324" cy="79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4658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FFB6-2EBC-AC79-F019-DA38A104F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723378-34A9-35AE-4D2D-F937C06891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30894"/>
          </a:xfrm>
        </p:spPr>
        <p:txBody>
          <a:bodyPr/>
          <a:lstStyle/>
          <a:p>
            <a:r>
              <a:rPr lang="en-US" altLang="ko-KR" dirty="0"/>
              <a:t>Part 2:</a:t>
            </a:r>
            <a:br>
              <a:rPr lang="en-US" altLang="ko-KR" dirty="0"/>
            </a:br>
            <a:r>
              <a:rPr lang="en-US" altLang="ko-KR" dirty="0"/>
              <a:t>RW 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053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AA19430-AD26-43E4-8B8A-99CA04ECA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32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71EEB1E-7D32-4697-BF81-2347CBCA7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Lock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BB7A2F-F87E-4A66-9909-94DB74283F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/>
              <a:t>SKVS uses a global hash table</a:t>
            </a:r>
          </a:p>
          <a:p>
            <a:pPr lvl="1"/>
            <a:r>
              <a:rPr lang="en-US" altLang="ko-KR" sz="1800" dirty="0"/>
              <a:t>Any threads consistently access the key-value pair</a:t>
            </a:r>
          </a:p>
          <a:p>
            <a:pPr lvl="1"/>
            <a:r>
              <a:rPr lang="en-US" altLang="ko-KR" sz="1800" dirty="0"/>
              <a:t>Accesses to the hash table needs lock</a:t>
            </a:r>
          </a:p>
          <a:p>
            <a:endParaRPr lang="en-US" altLang="ko-KR" sz="2200" dirty="0"/>
          </a:p>
          <a:p>
            <a:r>
              <a:rPr lang="en-US" altLang="ko-KR" sz="2000" dirty="0"/>
              <a:t>But, lock contention leads to poor performance…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Fine-grained lock</a:t>
            </a:r>
          </a:p>
          <a:p>
            <a:pPr lvl="1"/>
            <a:r>
              <a:rPr lang="en-US" altLang="ko-KR" sz="1800" b="1" dirty="0"/>
              <a:t>For each bucket</a:t>
            </a:r>
          </a:p>
          <a:p>
            <a:pPr lvl="1"/>
            <a:r>
              <a:rPr lang="en-US" altLang="ko-KR" sz="1800" dirty="0"/>
              <a:t>Less contention compared to course-grained lock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000" dirty="0"/>
              <a:t>Custom RW lock</a:t>
            </a:r>
          </a:p>
          <a:p>
            <a:pPr lvl="1"/>
            <a:r>
              <a:rPr lang="en-US" altLang="ko-KR" sz="1800" dirty="0"/>
              <a:t>Assumes many readers, few writers</a:t>
            </a:r>
          </a:p>
          <a:p>
            <a:pPr lvl="1"/>
            <a:r>
              <a:rPr lang="en-US" altLang="ko-KR" sz="1800" b="1" dirty="0"/>
              <a:t>Multiple readers are allowed at the same time</a:t>
            </a:r>
          </a:p>
          <a:p>
            <a:pPr lvl="1"/>
            <a:r>
              <a:rPr lang="en-US" altLang="ko-KR" sz="1800" dirty="0"/>
              <a:t>By default, read and write are handled in </a:t>
            </a:r>
            <a:r>
              <a:rPr lang="en-US" altLang="ko-KR" sz="1800" b="1" dirty="0">
                <a:solidFill>
                  <a:srgbClr val="FF0000"/>
                </a:solidFill>
              </a:rPr>
              <a:t>FIFO order</a:t>
            </a:r>
          </a:p>
          <a:p>
            <a:pPr lvl="1"/>
            <a:r>
              <a:rPr lang="en-US" altLang="ko-KR" sz="1800" dirty="0">
                <a:solidFill>
                  <a:schemeClr val="tx1"/>
                </a:solidFill>
              </a:rPr>
              <a:t>But, </a:t>
            </a:r>
            <a:r>
              <a:rPr lang="en-US" altLang="ko-KR" sz="1800" b="1" dirty="0">
                <a:solidFill>
                  <a:srgbClr val="FF0000"/>
                </a:solidFill>
              </a:rPr>
              <a:t>Quick read </a:t>
            </a:r>
            <a:r>
              <a:rPr lang="en-US" altLang="ko-KR" sz="1800" b="1" dirty="0"/>
              <a:t>preempts </a:t>
            </a:r>
            <a:r>
              <a:rPr lang="en-US" altLang="ko-KR" sz="1800" dirty="0"/>
              <a:t>pending accesses</a:t>
            </a:r>
          </a:p>
          <a:p>
            <a:endParaRPr lang="en-US" altLang="ko-KR" sz="22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E7411AD-02E7-4624-B934-9CBECB22D66A}"/>
              </a:ext>
            </a:extLst>
          </p:cNvPr>
          <p:cNvSpPr/>
          <p:nvPr/>
        </p:nvSpPr>
        <p:spPr>
          <a:xfrm>
            <a:off x="9942990" y="825010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6" name="화살표: 왼쪽/오른쪽 5">
            <a:extLst>
              <a:ext uri="{FF2B5EF4-FFF2-40B4-BE49-F238E27FC236}">
                <a16:creationId xmlns:a16="http://schemas.microsoft.com/office/drawing/2014/main" id="{12303A0C-5D6D-4531-89C2-B3F244DC4D70}"/>
              </a:ext>
            </a:extLst>
          </p:cNvPr>
          <p:cNvSpPr/>
          <p:nvPr/>
        </p:nvSpPr>
        <p:spPr>
          <a:xfrm>
            <a:off x="9215021" y="1424265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Line 6">
            <a:extLst>
              <a:ext uri="{FF2B5EF4-FFF2-40B4-BE49-F238E27FC236}">
                <a16:creationId xmlns:a16="http://schemas.microsoft.com/office/drawing/2014/main" id="{58627AC1-AAA2-4813-8B32-AC684E262F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29548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" name="Line 6">
            <a:extLst>
              <a:ext uri="{FF2B5EF4-FFF2-40B4-BE49-F238E27FC236}">
                <a16:creationId xmlns:a16="http://schemas.microsoft.com/office/drawing/2014/main" id="{D59836F7-7738-4F21-9316-07F37C8EE7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145246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DE3A8714-9F82-4905-BC08-04332F26BD3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60771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" name="Line 6">
            <a:extLst>
              <a:ext uri="{FF2B5EF4-FFF2-40B4-BE49-F238E27FC236}">
                <a16:creationId xmlns:a16="http://schemas.microsoft.com/office/drawing/2014/main" id="{0F796B9A-3171-4234-80DB-B0020CF573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174042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E7D51417-0AB4-4BB6-8AB8-D4363D6ED0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189566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E8FCD5EC-CB1A-420A-B07B-3161E26FF2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" name="Line 6">
            <a:extLst>
              <a:ext uri="{FF2B5EF4-FFF2-40B4-BE49-F238E27FC236}">
                <a16:creationId xmlns:a16="http://schemas.microsoft.com/office/drawing/2014/main" id="{DF528B24-A804-47DB-853C-F9D2DA802CE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F7BA5DCA-CEF0-4169-829B-2CE716BAB98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6">
            <a:extLst>
              <a:ext uri="{FF2B5EF4-FFF2-40B4-BE49-F238E27FC236}">
                <a16:creationId xmlns:a16="http://schemas.microsoft.com/office/drawing/2014/main" id="{3ED8201A-0BCC-4F5E-90FF-1FFF8E3B771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6">
            <a:extLst>
              <a:ext uri="{FF2B5EF4-FFF2-40B4-BE49-F238E27FC236}">
                <a16:creationId xmlns:a16="http://schemas.microsoft.com/office/drawing/2014/main" id="{9DA40589-BD79-4432-8B56-3BA85DD36F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6">
            <a:extLst>
              <a:ext uri="{FF2B5EF4-FFF2-40B4-BE49-F238E27FC236}">
                <a16:creationId xmlns:a16="http://schemas.microsoft.com/office/drawing/2014/main" id="{184A33BD-3FA6-4743-B103-22B99B5220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Line 6">
            <a:extLst>
              <a:ext uri="{FF2B5EF4-FFF2-40B4-BE49-F238E27FC236}">
                <a16:creationId xmlns:a16="http://schemas.microsoft.com/office/drawing/2014/main" id="{5353E849-67B5-4344-8369-CC62E27295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65F7CF9E-C0D8-4FAB-98DB-AA520F30D8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9CF0BC15-AD03-4E89-B521-A98C620E7CF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1" name="Line 6">
            <a:extLst>
              <a:ext uri="{FF2B5EF4-FFF2-40B4-BE49-F238E27FC236}">
                <a16:creationId xmlns:a16="http://schemas.microsoft.com/office/drawing/2014/main" id="{6DBC038A-5412-43B0-917B-48D1BCBB10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2" name="Line 6">
            <a:extLst>
              <a:ext uri="{FF2B5EF4-FFF2-40B4-BE49-F238E27FC236}">
                <a16:creationId xmlns:a16="http://schemas.microsoft.com/office/drawing/2014/main" id="{5783034F-9C52-41EA-B860-06C021EB8A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3" name="Line 6">
            <a:extLst>
              <a:ext uri="{FF2B5EF4-FFF2-40B4-BE49-F238E27FC236}">
                <a16:creationId xmlns:a16="http://schemas.microsoft.com/office/drawing/2014/main" id="{5CEAB04E-D616-4148-B7F2-266A09F974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4" name="Line 6">
            <a:extLst>
              <a:ext uri="{FF2B5EF4-FFF2-40B4-BE49-F238E27FC236}">
                <a16:creationId xmlns:a16="http://schemas.microsoft.com/office/drawing/2014/main" id="{3CBEFC56-6814-4BD2-A87C-C330A10142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5" name="Line 6">
            <a:extLst>
              <a:ext uri="{FF2B5EF4-FFF2-40B4-BE49-F238E27FC236}">
                <a16:creationId xmlns:a16="http://schemas.microsoft.com/office/drawing/2014/main" id="{F9153F8B-9960-4491-9F8F-A011CED3B0F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6">
            <a:extLst>
              <a:ext uri="{FF2B5EF4-FFF2-40B4-BE49-F238E27FC236}">
                <a16:creationId xmlns:a16="http://schemas.microsoft.com/office/drawing/2014/main" id="{C3886A66-20CC-44B5-B9A1-D5E122425B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11C125-599A-4F7C-8188-91918C0B66E7}"/>
              </a:ext>
            </a:extLst>
          </p:cNvPr>
          <p:cNvSpPr txBox="1"/>
          <p:nvPr/>
        </p:nvSpPr>
        <p:spPr>
          <a:xfrm>
            <a:off x="8131806" y="1431725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28" name="Line 6">
            <a:extLst>
              <a:ext uri="{FF2B5EF4-FFF2-40B4-BE49-F238E27FC236}">
                <a16:creationId xmlns:a16="http://schemas.microsoft.com/office/drawing/2014/main" id="{7BE9E57D-2CDE-44B5-9668-76A0E91176D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28920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9" name="Line 6">
            <a:extLst>
              <a:ext uri="{FF2B5EF4-FFF2-40B4-BE49-F238E27FC236}">
                <a16:creationId xmlns:a16="http://schemas.microsoft.com/office/drawing/2014/main" id="{A3BA2678-5ABD-4ACB-B7B3-257EB8E15E8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1446189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0" name="Line 6">
            <a:extLst>
              <a:ext uri="{FF2B5EF4-FFF2-40B4-BE49-F238E27FC236}">
                <a16:creationId xmlns:a16="http://schemas.microsoft.com/office/drawing/2014/main" id="{5222D43A-BE6E-4604-81D7-CE85EE29D1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601434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1" name="Line 6">
            <a:extLst>
              <a:ext uri="{FF2B5EF4-FFF2-40B4-BE49-F238E27FC236}">
                <a16:creationId xmlns:a16="http://schemas.microsoft.com/office/drawing/2014/main" id="{E474AE71-BE87-442A-8DF5-52368B1581E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1734146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2" name="Line 6">
            <a:extLst>
              <a:ext uri="{FF2B5EF4-FFF2-40B4-BE49-F238E27FC236}">
                <a16:creationId xmlns:a16="http://schemas.microsoft.com/office/drawing/2014/main" id="{D49720B2-28CC-40DC-B760-BA4B7D7EC6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1889391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3" name="Text Box 15">
            <a:extLst>
              <a:ext uri="{FF2B5EF4-FFF2-40B4-BE49-F238E27FC236}">
                <a16:creationId xmlns:a16="http://schemas.microsoft.com/office/drawing/2014/main" id="{04DFF158-C80D-4EE0-9736-89120B209C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0795" y="903479"/>
            <a:ext cx="210884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 i="1" dirty="0">
                <a:solidFill>
                  <a:srgbClr val="C00000"/>
                </a:solidFill>
                <a:latin typeface="Calibri" pitchFamily="34" charset="0"/>
              </a:rPr>
              <a:t>SKVS worker threads</a:t>
            </a:r>
          </a:p>
        </p:txBody>
      </p:sp>
      <p:pic>
        <p:nvPicPr>
          <p:cNvPr id="35" name="그래픽 34" descr="자물쇠 단색으로 채워진">
            <a:extLst>
              <a:ext uri="{FF2B5EF4-FFF2-40B4-BE49-F238E27FC236}">
                <a16:creationId xmlns:a16="http://schemas.microsoft.com/office/drawing/2014/main" id="{DEBA4150-7AA3-4E33-90F0-7692D0035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63308" y="1268674"/>
            <a:ext cx="637735" cy="637735"/>
          </a:xfrm>
          <a:prstGeom prst="rect">
            <a:avLst/>
          </a:prstGeom>
        </p:spPr>
      </p:pic>
      <p:sp>
        <p:nvSpPr>
          <p:cNvPr id="36" name="직사각형 35">
            <a:extLst>
              <a:ext uri="{FF2B5EF4-FFF2-40B4-BE49-F238E27FC236}">
                <a16:creationId xmlns:a16="http://schemas.microsoft.com/office/drawing/2014/main" id="{0A94EFFB-72A3-47B9-9309-4595EEA6F529}"/>
              </a:ext>
            </a:extLst>
          </p:cNvPr>
          <p:cNvSpPr/>
          <p:nvPr/>
        </p:nvSpPr>
        <p:spPr>
          <a:xfrm>
            <a:off x="9942990" y="2621328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sp>
        <p:nvSpPr>
          <p:cNvPr id="37" name="화살표: 왼쪽/오른쪽 36">
            <a:extLst>
              <a:ext uri="{FF2B5EF4-FFF2-40B4-BE49-F238E27FC236}">
                <a16:creationId xmlns:a16="http://schemas.microsoft.com/office/drawing/2014/main" id="{BA39A2E4-18E9-4C43-B2DA-2FF8DFF4CA15}"/>
              </a:ext>
            </a:extLst>
          </p:cNvPr>
          <p:cNvSpPr/>
          <p:nvPr/>
        </p:nvSpPr>
        <p:spPr>
          <a:xfrm>
            <a:off x="9215021" y="3220583"/>
            <a:ext cx="652460" cy="3809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Line 6">
            <a:extLst>
              <a:ext uri="{FF2B5EF4-FFF2-40B4-BE49-F238E27FC236}">
                <a16:creationId xmlns:a16="http://schemas.microsoft.com/office/drawing/2014/main" id="{319A68C2-A2F8-442E-9B57-A397D8DD9C6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09179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9" name="Line 6">
            <a:extLst>
              <a:ext uri="{FF2B5EF4-FFF2-40B4-BE49-F238E27FC236}">
                <a16:creationId xmlns:a16="http://schemas.microsoft.com/office/drawing/2014/main" id="{5B518F14-F6D7-41CA-81F0-2CEC51C7C5D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324878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0" name="Line 6">
            <a:extLst>
              <a:ext uri="{FF2B5EF4-FFF2-40B4-BE49-F238E27FC236}">
                <a16:creationId xmlns:a16="http://schemas.microsoft.com/office/drawing/2014/main" id="{83918DB3-D58F-485B-ADD0-57CE927C74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40403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1" name="Line 6">
            <a:extLst>
              <a:ext uri="{FF2B5EF4-FFF2-40B4-BE49-F238E27FC236}">
                <a16:creationId xmlns:a16="http://schemas.microsoft.com/office/drawing/2014/main" id="{38E70A47-8655-4114-BA07-257621D2917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3536742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2" name="Line 6">
            <a:extLst>
              <a:ext uri="{FF2B5EF4-FFF2-40B4-BE49-F238E27FC236}">
                <a16:creationId xmlns:a16="http://schemas.microsoft.com/office/drawing/2014/main" id="{67F7A288-C9D3-4B83-9743-B6D994B0308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3691987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3" name="Line 6">
            <a:extLst>
              <a:ext uri="{FF2B5EF4-FFF2-40B4-BE49-F238E27FC236}">
                <a16:creationId xmlns:a16="http://schemas.microsoft.com/office/drawing/2014/main" id="{3BA8230F-F8BE-49A2-A370-3F33A512728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4" name="Line 6">
            <a:extLst>
              <a:ext uri="{FF2B5EF4-FFF2-40B4-BE49-F238E27FC236}">
                <a16:creationId xmlns:a16="http://schemas.microsoft.com/office/drawing/2014/main" id="{46BFD46C-606E-443E-9FA2-7DB736E9157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5" name="Line 6">
            <a:extLst>
              <a:ext uri="{FF2B5EF4-FFF2-40B4-BE49-F238E27FC236}">
                <a16:creationId xmlns:a16="http://schemas.microsoft.com/office/drawing/2014/main" id="{C140FE12-06BC-4F10-8689-CBF3066B094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6" name="Line 6">
            <a:extLst>
              <a:ext uri="{FF2B5EF4-FFF2-40B4-BE49-F238E27FC236}">
                <a16:creationId xmlns:a16="http://schemas.microsoft.com/office/drawing/2014/main" id="{6F85ACB6-196C-4DCB-92F1-B12AED6AE3C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7" name="Line 6">
            <a:extLst>
              <a:ext uri="{FF2B5EF4-FFF2-40B4-BE49-F238E27FC236}">
                <a16:creationId xmlns:a16="http://schemas.microsoft.com/office/drawing/2014/main" id="{3112373F-5110-41D1-B328-CE10159EC7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" name="Line 6">
            <a:extLst>
              <a:ext uri="{FF2B5EF4-FFF2-40B4-BE49-F238E27FC236}">
                <a16:creationId xmlns:a16="http://schemas.microsoft.com/office/drawing/2014/main" id="{685C02CB-44CB-4A52-8B26-2A2A2ABB54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9" name="Line 6">
            <a:extLst>
              <a:ext uri="{FF2B5EF4-FFF2-40B4-BE49-F238E27FC236}">
                <a16:creationId xmlns:a16="http://schemas.microsoft.com/office/drawing/2014/main" id="{E9779BE8-F124-4A86-ABF0-356465A8068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0" name="Line 6">
            <a:extLst>
              <a:ext uri="{FF2B5EF4-FFF2-40B4-BE49-F238E27FC236}">
                <a16:creationId xmlns:a16="http://schemas.microsoft.com/office/drawing/2014/main" id="{15563849-F08E-4F2B-8FEE-95767C44ED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1" name="Line 6">
            <a:extLst>
              <a:ext uri="{FF2B5EF4-FFF2-40B4-BE49-F238E27FC236}">
                <a16:creationId xmlns:a16="http://schemas.microsoft.com/office/drawing/2014/main" id="{FC4DE778-80EF-426A-8594-B5F1BDC80F8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2" name="Line 6">
            <a:extLst>
              <a:ext uri="{FF2B5EF4-FFF2-40B4-BE49-F238E27FC236}">
                <a16:creationId xmlns:a16="http://schemas.microsoft.com/office/drawing/2014/main" id="{F7ABAA48-C882-48A4-94B9-8B472DD98B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69A34471-10DA-4A41-944E-F58379401C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4" name="Line 6">
            <a:extLst>
              <a:ext uri="{FF2B5EF4-FFF2-40B4-BE49-F238E27FC236}">
                <a16:creationId xmlns:a16="http://schemas.microsoft.com/office/drawing/2014/main" id="{7669D73D-9215-402C-80C3-6BCE8702D9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5" name="Line 6">
            <a:extLst>
              <a:ext uri="{FF2B5EF4-FFF2-40B4-BE49-F238E27FC236}">
                <a16:creationId xmlns:a16="http://schemas.microsoft.com/office/drawing/2014/main" id="{64D312E8-8EB9-4732-AC4B-6561AB581F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6" name="Line 6">
            <a:extLst>
              <a:ext uri="{FF2B5EF4-FFF2-40B4-BE49-F238E27FC236}">
                <a16:creationId xmlns:a16="http://schemas.microsoft.com/office/drawing/2014/main" id="{7771B285-4093-4E43-99C3-DBD5652021D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7" name="Line 6">
            <a:extLst>
              <a:ext uri="{FF2B5EF4-FFF2-40B4-BE49-F238E27FC236}">
                <a16:creationId xmlns:a16="http://schemas.microsoft.com/office/drawing/2014/main" id="{E12E6FA8-4407-4E17-9828-D455B0AF7C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65814E1-16B1-49C7-A265-4FEE7CA2C0BF}"/>
              </a:ext>
            </a:extLst>
          </p:cNvPr>
          <p:cNvSpPr txBox="1"/>
          <p:nvPr/>
        </p:nvSpPr>
        <p:spPr>
          <a:xfrm>
            <a:off x="8131806" y="322804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59" name="Line 6">
            <a:extLst>
              <a:ext uri="{FF2B5EF4-FFF2-40B4-BE49-F238E27FC236}">
                <a16:creationId xmlns:a16="http://schemas.microsoft.com/office/drawing/2014/main" id="{F11B496B-76F6-407F-AE76-09476C6541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0855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0" name="Line 6">
            <a:extLst>
              <a:ext uri="{FF2B5EF4-FFF2-40B4-BE49-F238E27FC236}">
                <a16:creationId xmlns:a16="http://schemas.microsoft.com/office/drawing/2014/main" id="{878E1CD0-5F0F-405A-A9BD-985F8E7547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324250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1" name="Line 6">
            <a:extLst>
              <a:ext uri="{FF2B5EF4-FFF2-40B4-BE49-F238E27FC236}">
                <a16:creationId xmlns:a16="http://schemas.microsoft.com/office/drawing/2014/main" id="{B25BE677-C206-432D-B324-C37C813B6D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39775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2" name="Line 6">
            <a:extLst>
              <a:ext uri="{FF2B5EF4-FFF2-40B4-BE49-F238E27FC236}">
                <a16:creationId xmlns:a16="http://schemas.microsoft.com/office/drawing/2014/main" id="{D1C1C423-C025-456A-A65E-7E6263A6115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353046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63" name="Line 6">
            <a:extLst>
              <a:ext uri="{FF2B5EF4-FFF2-40B4-BE49-F238E27FC236}">
                <a16:creationId xmlns:a16="http://schemas.microsoft.com/office/drawing/2014/main" id="{82D5DB93-0F7B-4F9F-850E-20F6D7DA2C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368570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pic>
        <p:nvPicPr>
          <p:cNvPr id="65" name="그래픽 64" descr="자물쇠 단색으로 채워진">
            <a:extLst>
              <a:ext uri="{FF2B5EF4-FFF2-40B4-BE49-F238E27FC236}">
                <a16:creationId xmlns:a16="http://schemas.microsoft.com/office/drawing/2014/main" id="{D603C662-E725-4950-9084-7D3293CF92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990" y="2601885"/>
            <a:ext cx="228956" cy="228956"/>
          </a:xfrm>
          <a:prstGeom prst="rect">
            <a:avLst/>
          </a:prstGeom>
        </p:spPr>
      </p:pic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027FA9A3-B6D1-4C20-89C2-FCE826B66636}"/>
              </a:ext>
            </a:extLst>
          </p:cNvPr>
          <p:cNvCxnSpPr>
            <a:cxnSpLocks/>
          </p:cNvCxnSpPr>
          <p:nvPr/>
        </p:nvCxnSpPr>
        <p:spPr>
          <a:xfrm>
            <a:off x="9942990" y="3046192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1563A3C0-028D-44ED-AC04-8581F33B059B}"/>
              </a:ext>
            </a:extLst>
          </p:cNvPr>
          <p:cNvCxnSpPr>
            <a:cxnSpLocks/>
          </p:cNvCxnSpPr>
          <p:nvPr/>
        </p:nvCxnSpPr>
        <p:spPr>
          <a:xfrm>
            <a:off x="9942990" y="2828000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18D44D1-556D-4D32-B33E-2ECB0D325CBA}"/>
              </a:ext>
            </a:extLst>
          </p:cNvPr>
          <p:cNvCxnSpPr>
            <a:cxnSpLocks/>
          </p:cNvCxnSpPr>
          <p:nvPr/>
        </p:nvCxnSpPr>
        <p:spPr>
          <a:xfrm>
            <a:off x="9942990" y="3280067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B47B37E-7269-46D1-AD13-6700DA0AB57F}"/>
              </a:ext>
            </a:extLst>
          </p:cNvPr>
          <p:cNvCxnSpPr>
            <a:cxnSpLocks/>
          </p:cNvCxnSpPr>
          <p:nvPr/>
        </p:nvCxnSpPr>
        <p:spPr>
          <a:xfrm>
            <a:off x="9942990" y="3718661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4AA3278A-F5B2-44C5-85D6-BA5F414A9D20}"/>
              </a:ext>
            </a:extLst>
          </p:cNvPr>
          <p:cNvCxnSpPr>
            <a:cxnSpLocks/>
          </p:cNvCxnSpPr>
          <p:nvPr/>
        </p:nvCxnSpPr>
        <p:spPr>
          <a:xfrm>
            <a:off x="9942990" y="3513746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6" name="그래픽 75" descr="자물쇠 단색으로 채워진">
            <a:extLst>
              <a:ext uri="{FF2B5EF4-FFF2-40B4-BE49-F238E27FC236}">
                <a16:creationId xmlns:a16="http://schemas.microsoft.com/office/drawing/2014/main" id="{D55736CA-B202-4EA0-8204-7335C5653A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9165" y="2840173"/>
            <a:ext cx="228956" cy="228956"/>
          </a:xfrm>
          <a:prstGeom prst="rect">
            <a:avLst/>
          </a:prstGeom>
        </p:spPr>
      </p:pic>
      <p:pic>
        <p:nvPicPr>
          <p:cNvPr id="77" name="그래픽 76" descr="자물쇠 단색으로 채워진">
            <a:extLst>
              <a:ext uri="{FF2B5EF4-FFF2-40B4-BE49-F238E27FC236}">
                <a16:creationId xmlns:a16="http://schemas.microsoft.com/office/drawing/2014/main" id="{5DA99616-1D16-4597-B55D-AD42B45FB2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0957" y="3044500"/>
            <a:ext cx="228956" cy="228956"/>
          </a:xfrm>
          <a:prstGeom prst="rect">
            <a:avLst/>
          </a:prstGeom>
        </p:spPr>
      </p:pic>
      <p:pic>
        <p:nvPicPr>
          <p:cNvPr id="78" name="그래픽 77" descr="자물쇠 단색으로 채워진">
            <a:extLst>
              <a:ext uri="{FF2B5EF4-FFF2-40B4-BE49-F238E27FC236}">
                <a16:creationId xmlns:a16="http://schemas.microsoft.com/office/drawing/2014/main" id="{59902D97-EE8B-4C52-8448-DA3026DC7D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924" y="3267835"/>
            <a:ext cx="228956" cy="228956"/>
          </a:xfrm>
          <a:prstGeom prst="rect">
            <a:avLst/>
          </a:prstGeom>
        </p:spPr>
      </p:pic>
      <p:sp>
        <p:nvSpPr>
          <p:cNvPr id="81" name="Line 6">
            <a:extLst>
              <a:ext uri="{FF2B5EF4-FFF2-40B4-BE49-F238E27FC236}">
                <a16:creationId xmlns:a16="http://schemas.microsoft.com/office/drawing/2014/main" id="{3832F2FD-4F5C-46F5-A56A-063933CA4A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4541588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2" name="Line 6">
            <a:extLst>
              <a:ext uri="{FF2B5EF4-FFF2-40B4-BE49-F238E27FC236}">
                <a16:creationId xmlns:a16="http://schemas.microsoft.com/office/drawing/2014/main" id="{3DB5DE66-4B9F-498E-B715-E06647C1CB9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4698575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3" name="Line 6">
            <a:extLst>
              <a:ext uri="{FF2B5EF4-FFF2-40B4-BE49-F238E27FC236}">
                <a16:creationId xmlns:a16="http://schemas.microsoft.com/office/drawing/2014/main" id="{AB62BB22-9233-49D0-9724-27BBFADA5F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485382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4" name="Line 6">
            <a:extLst>
              <a:ext uri="{FF2B5EF4-FFF2-40B4-BE49-F238E27FC236}">
                <a16:creationId xmlns:a16="http://schemas.microsoft.com/office/drawing/2014/main" id="{3D2A4106-6675-417A-A129-66114826141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07154" y="4986532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5" name="Line 6">
            <a:extLst>
              <a:ext uri="{FF2B5EF4-FFF2-40B4-BE49-F238E27FC236}">
                <a16:creationId xmlns:a16="http://schemas.microsoft.com/office/drawing/2014/main" id="{822BAC5E-2B32-40E2-BB66-ECB15A0C53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07154" y="5141777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6" name="Line 6">
            <a:extLst>
              <a:ext uri="{FF2B5EF4-FFF2-40B4-BE49-F238E27FC236}">
                <a16:creationId xmlns:a16="http://schemas.microsoft.com/office/drawing/2014/main" id="{60AB210F-4F20-41DC-835A-427765E39E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7" name="Line 6">
            <a:extLst>
              <a:ext uri="{FF2B5EF4-FFF2-40B4-BE49-F238E27FC236}">
                <a16:creationId xmlns:a16="http://schemas.microsoft.com/office/drawing/2014/main" id="{009EA499-20D5-4307-B014-CD4B04214A2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8" name="Line 6">
            <a:extLst>
              <a:ext uri="{FF2B5EF4-FFF2-40B4-BE49-F238E27FC236}">
                <a16:creationId xmlns:a16="http://schemas.microsoft.com/office/drawing/2014/main" id="{BFCF71DE-C47A-4958-8061-C30B12CC50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89" name="Line 6">
            <a:extLst>
              <a:ext uri="{FF2B5EF4-FFF2-40B4-BE49-F238E27FC236}">
                <a16:creationId xmlns:a16="http://schemas.microsoft.com/office/drawing/2014/main" id="{BF1A8489-3726-43EB-A217-DBFB80A1ABE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552203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0" name="Line 6">
            <a:extLst>
              <a:ext uri="{FF2B5EF4-FFF2-40B4-BE49-F238E27FC236}">
                <a16:creationId xmlns:a16="http://schemas.microsoft.com/office/drawing/2014/main" id="{364FB8EA-CDE8-4F7B-A09D-3902034B871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52203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1" name="Line 6">
            <a:extLst>
              <a:ext uri="{FF2B5EF4-FFF2-40B4-BE49-F238E27FC236}">
                <a16:creationId xmlns:a16="http://schemas.microsoft.com/office/drawing/2014/main" id="{C3B01351-1BDE-40F1-9AD3-112A1C4097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2" name="Line 6">
            <a:extLst>
              <a:ext uri="{FF2B5EF4-FFF2-40B4-BE49-F238E27FC236}">
                <a16:creationId xmlns:a16="http://schemas.microsoft.com/office/drawing/2014/main" id="{F581709D-7427-48FD-B6F9-9F4E986ABCB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3" name="Line 6">
            <a:extLst>
              <a:ext uri="{FF2B5EF4-FFF2-40B4-BE49-F238E27FC236}">
                <a16:creationId xmlns:a16="http://schemas.microsoft.com/office/drawing/2014/main" id="{589D7EFB-754B-4E75-8BC5-2FD31024E3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4" name="Line 6">
            <a:extLst>
              <a:ext uri="{FF2B5EF4-FFF2-40B4-BE49-F238E27FC236}">
                <a16:creationId xmlns:a16="http://schemas.microsoft.com/office/drawing/2014/main" id="{73FDC39A-B60D-40F4-BF3B-B329DBE6C7E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695217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5" name="Line 6">
            <a:extLst>
              <a:ext uri="{FF2B5EF4-FFF2-40B4-BE49-F238E27FC236}">
                <a16:creationId xmlns:a16="http://schemas.microsoft.com/office/drawing/2014/main" id="{41F3E0BD-8AB4-462D-AFF4-03F4290CB6A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95217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6" name="Line 6">
            <a:extLst>
              <a:ext uri="{FF2B5EF4-FFF2-40B4-BE49-F238E27FC236}">
                <a16:creationId xmlns:a16="http://schemas.microsoft.com/office/drawing/2014/main" id="{A1882C02-D3C7-4DF1-8A9B-2C1DBD8485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7" name="Line 6">
            <a:extLst>
              <a:ext uri="{FF2B5EF4-FFF2-40B4-BE49-F238E27FC236}">
                <a16:creationId xmlns:a16="http://schemas.microsoft.com/office/drawing/2014/main" id="{81FB6A33-FE6E-4BF4-8971-9B8891340B9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8" name="Line 6">
            <a:extLst>
              <a:ext uri="{FF2B5EF4-FFF2-40B4-BE49-F238E27FC236}">
                <a16:creationId xmlns:a16="http://schemas.microsoft.com/office/drawing/2014/main" id="{63E7B37A-2BE6-4809-B744-0692C6F3AFB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9" name="Line 6">
            <a:extLst>
              <a:ext uri="{FF2B5EF4-FFF2-40B4-BE49-F238E27FC236}">
                <a16:creationId xmlns:a16="http://schemas.microsoft.com/office/drawing/2014/main" id="{20A7338E-A497-480F-AABE-8C77C5F280F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23116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0" name="Line 6">
            <a:extLst>
              <a:ext uri="{FF2B5EF4-FFF2-40B4-BE49-F238E27FC236}">
                <a16:creationId xmlns:a16="http://schemas.microsoft.com/office/drawing/2014/main" id="{9A9103FC-A080-4286-87BA-18A24907A4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3116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9B750B7-AD73-4E28-8619-DC8B88D33A82}"/>
              </a:ext>
            </a:extLst>
          </p:cNvPr>
          <p:cNvSpPr txBox="1"/>
          <p:nvPr/>
        </p:nvSpPr>
        <p:spPr>
          <a:xfrm>
            <a:off x="8131806" y="467783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…</a:t>
            </a:r>
            <a:endParaRPr lang="ko-KR" altLang="en-US" dirty="0"/>
          </a:p>
        </p:txBody>
      </p:sp>
      <p:sp>
        <p:nvSpPr>
          <p:cNvPr id="102" name="Line 6">
            <a:extLst>
              <a:ext uri="{FF2B5EF4-FFF2-40B4-BE49-F238E27FC236}">
                <a16:creationId xmlns:a16="http://schemas.microsoft.com/office/drawing/2014/main" id="{8B85CB12-E14A-4402-A87D-F73805E1AA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4535310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3" name="Line 6">
            <a:extLst>
              <a:ext uri="{FF2B5EF4-FFF2-40B4-BE49-F238E27FC236}">
                <a16:creationId xmlns:a16="http://schemas.microsoft.com/office/drawing/2014/main" id="{286806C6-04FC-425F-BF53-AF056148D0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4692297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4" name="Line 6">
            <a:extLst>
              <a:ext uri="{FF2B5EF4-FFF2-40B4-BE49-F238E27FC236}">
                <a16:creationId xmlns:a16="http://schemas.microsoft.com/office/drawing/2014/main" id="{3516920D-F460-4A8D-8F39-3A33051ABBD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4847542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5" name="Line 6">
            <a:extLst>
              <a:ext uri="{FF2B5EF4-FFF2-40B4-BE49-F238E27FC236}">
                <a16:creationId xmlns:a16="http://schemas.microsoft.com/office/drawing/2014/main" id="{5B782EBA-7D68-4A55-8AE3-343BB89F09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836241" y="4980254"/>
            <a:ext cx="68016" cy="1457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06" name="Line 6">
            <a:extLst>
              <a:ext uri="{FF2B5EF4-FFF2-40B4-BE49-F238E27FC236}">
                <a16:creationId xmlns:a16="http://schemas.microsoft.com/office/drawing/2014/main" id="{E2F8D8F3-EF31-4155-937A-C7176396A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836241" y="5135499"/>
            <a:ext cx="68016" cy="152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8" name="Line 6">
            <a:extLst>
              <a:ext uri="{FF2B5EF4-FFF2-40B4-BE49-F238E27FC236}">
                <a16:creationId xmlns:a16="http://schemas.microsoft.com/office/drawing/2014/main" id="{AAD0DEC3-4C42-41FA-A8C5-E4EC3B6B09D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3809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9" name="Line 6">
            <a:extLst>
              <a:ext uri="{FF2B5EF4-FFF2-40B4-BE49-F238E27FC236}">
                <a16:creationId xmlns:a16="http://schemas.microsoft.com/office/drawing/2014/main" id="{934839CB-989A-4936-ABF2-AAC0B13FAE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7"/>
            <a:ext cx="747202" cy="52706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0" name="Line 6">
            <a:extLst>
              <a:ext uri="{FF2B5EF4-FFF2-40B4-BE49-F238E27FC236}">
                <a16:creationId xmlns:a16="http://schemas.microsoft.com/office/drawing/2014/main" id="{037CCD6A-71B3-449F-9072-617CED900E4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65698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1" name="Line 6">
            <a:extLst>
              <a:ext uri="{FF2B5EF4-FFF2-40B4-BE49-F238E27FC236}">
                <a16:creationId xmlns:a16="http://schemas.microsoft.com/office/drawing/2014/main" id="{69F70872-F0FF-4DCB-AD2B-CA509B51D9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120279" y="4190556"/>
            <a:ext cx="747202" cy="78969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/>
            <a:tailEnd type="none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82EA4F2-4B57-4177-A657-477A2379F6BA}"/>
              </a:ext>
            </a:extLst>
          </p:cNvPr>
          <p:cNvSpPr txBox="1"/>
          <p:nvPr/>
        </p:nvSpPr>
        <p:spPr>
          <a:xfrm rot="20330666">
            <a:off x="9099490" y="4105296"/>
            <a:ext cx="60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read</a:t>
            </a:r>
            <a:endParaRPr lang="ko-KR" altLang="en-US" dirty="0"/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A5BC2BE0-24F2-4924-8282-4A4066E0C692}"/>
              </a:ext>
            </a:extLst>
          </p:cNvPr>
          <p:cNvSpPr/>
          <p:nvPr/>
        </p:nvSpPr>
        <p:spPr>
          <a:xfrm>
            <a:off x="9942990" y="4082896"/>
            <a:ext cx="1381617" cy="12167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Global</a:t>
            </a:r>
          </a:p>
          <a:p>
            <a:pPr algn="ctr"/>
            <a:r>
              <a:rPr lang="en-US" altLang="ko-KR" dirty="0"/>
              <a:t>Hash Table</a:t>
            </a:r>
          </a:p>
          <a:p>
            <a:pPr algn="ctr"/>
            <a:r>
              <a:rPr lang="en-US" altLang="ko-KR" dirty="0"/>
              <a:t>for Key-Value pairs</a:t>
            </a:r>
            <a:endParaRPr lang="ko-KR" altLang="en-US" dirty="0"/>
          </a:p>
        </p:txBody>
      </p:sp>
      <p:pic>
        <p:nvPicPr>
          <p:cNvPr id="124" name="그래픽 123" descr="자물쇠 단색으로 채워진">
            <a:extLst>
              <a:ext uri="{FF2B5EF4-FFF2-40B4-BE49-F238E27FC236}">
                <a16:creationId xmlns:a16="http://schemas.microsoft.com/office/drawing/2014/main" id="{08C2B299-0C16-4FB6-AF6C-97EFACAF09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2990" y="4063453"/>
            <a:ext cx="228956" cy="228956"/>
          </a:xfrm>
          <a:prstGeom prst="rect">
            <a:avLst/>
          </a:prstGeom>
        </p:spPr>
      </p:pic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6BBF2EED-3031-47C3-91D0-B2FB6A029B33}"/>
              </a:ext>
            </a:extLst>
          </p:cNvPr>
          <p:cNvCxnSpPr>
            <a:cxnSpLocks/>
          </p:cNvCxnSpPr>
          <p:nvPr/>
        </p:nvCxnSpPr>
        <p:spPr>
          <a:xfrm>
            <a:off x="9942990" y="4507760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58785E-5206-4E93-95EF-5AFFEA7780C1}"/>
              </a:ext>
            </a:extLst>
          </p:cNvPr>
          <p:cNvCxnSpPr>
            <a:cxnSpLocks/>
          </p:cNvCxnSpPr>
          <p:nvPr/>
        </p:nvCxnSpPr>
        <p:spPr>
          <a:xfrm>
            <a:off x="9942990" y="4289568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41366EF9-67E6-40E2-9487-D7B41FB76D39}"/>
              </a:ext>
            </a:extLst>
          </p:cNvPr>
          <p:cNvCxnSpPr>
            <a:cxnSpLocks/>
          </p:cNvCxnSpPr>
          <p:nvPr/>
        </p:nvCxnSpPr>
        <p:spPr>
          <a:xfrm>
            <a:off x="9942990" y="4741635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8B7FF3C4-AD87-4152-BD5F-65C0E92F9DF3}"/>
              </a:ext>
            </a:extLst>
          </p:cNvPr>
          <p:cNvCxnSpPr>
            <a:cxnSpLocks/>
          </p:cNvCxnSpPr>
          <p:nvPr/>
        </p:nvCxnSpPr>
        <p:spPr>
          <a:xfrm>
            <a:off x="9942990" y="5180229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직선 연결선 128">
            <a:extLst>
              <a:ext uri="{FF2B5EF4-FFF2-40B4-BE49-F238E27FC236}">
                <a16:creationId xmlns:a16="http://schemas.microsoft.com/office/drawing/2014/main" id="{B7B2A507-25F5-42FB-AE93-B6E86519E0CC}"/>
              </a:ext>
            </a:extLst>
          </p:cNvPr>
          <p:cNvCxnSpPr>
            <a:cxnSpLocks/>
          </p:cNvCxnSpPr>
          <p:nvPr/>
        </p:nvCxnSpPr>
        <p:spPr>
          <a:xfrm>
            <a:off x="9942990" y="4975314"/>
            <a:ext cx="1381617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0" name="그래픽 129" descr="자물쇠 단색으로 채워진">
            <a:extLst>
              <a:ext uri="{FF2B5EF4-FFF2-40B4-BE49-F238E27FC236}">
                <a16:creationId xmlns:a16="http://schemas.microsoft.com/office/drawing/2014/main" id="{00C7E43F-5859-4E86-B9FD-2C49C2D732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49165" y="4301741"/>
            <a:ext cx="228956" cy="228956"/>
          </a:xfrm>
          <a:prstGeom prst="rect">
            <a:avLst/>
          </a:prstGeom>
        </p:spPr>
      </p:pic>
      <p:pic>
        <p:nvPicPr>
          <p:cNvPr id="131" name="그래픽 130" descr="자물쇠 단색으로 채워진">
            <a:extLst>
              <a:ext uri="{FF2B5EF4-FFF2-40B4-BE49-F238E27FC236}">
                <a16:creationId xmlns:a16="http://schemas.microsoft.com/office/drawing/2014/main" id="{583B8A39-4E1B-41F2-AB3F-FA4116DC65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0957" y="4506068"/>
            <a:ext cx="228956" cy="228956"/>
          </a:xfrm>
          <a:prstGeom prst="rect">
            <a:avLst/>
          </a:prstGeom>
        </p:spPr>
      </p:pic>
      <p:pic>
        <p:nvPicPr>
          <p:cNvPr id="132" name="그래픽 131" descr="자물쇠 단색으로 채워진">
            <a:extLst>
              <a:ext uri="{FF2B5EF4-FFF2-40B4-BE49-F238E27FC236}">
                <a16:creationId xmlns:a16="http://schemas.microsoft.com/office/drawing/2014/main" id="{F45F2D19-F54A-4EE3-9486-2E0AB40950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58924" y="4729403"/>
            <a:ext cx="228956" cy="22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7949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731F3-3493-47D8-BD1B-4F042A727E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0" y="826040"/>
            <a:ext cx="11369963" cy="5205919"/>
          </a:xfrm>
        </p:spPr>
        <p:txBody>
          <a:bodyPr/>
          <a:lstStyle/>
          <a:p>
            <a:r>
              <a:rPr lang="en-US" altLang="ko-KR" sz="2000" dirty="0"/>
              <a:t>Handle requests in FIFO by default</a:t>
            </a:r>
          </a:p>
          <a:p>
            <a:r>
              <a:rPr lang="en-US" altLang="ko-KR" sz="2000" dirty="0"/>
              <a:t>Readers can be concurrently handled</a:t>
            </a:r>
          </a:p>
          <a:p>
            <a:r>
              <a:rPr lang="en-US" altLang="ko-KR" sz="2000" dirty="0"/>
              <a:t>Writers should be sequentially handled</a:t>
            </a:r>
          </a:p>
          <a:p>
            <a:r>
              <a:rPr lang="en-US" altLang="ko-KR" sz="2000" dirty="0"/>
              <a:t>“Quick read” </a:t>
            </a:r>
            <a:r>
              <a:rPr lang="en-US" altLang="ko-KR" sz="2000" dirty="0">
                <a:solidFill>
                  <a:srgbClr val="FF0000"/>
                </a:solidFill>
              </a:rPr>
              <a:t>preempts pending accesses (prioritized read)</a:t>
            </a:r>
            <a:endParaRPr lang="en-US" altLang="ko-KR" sz="2000" dirty="0"/>
          </a:p>
          <a:p>
            <a:r>
              <a:rPr lang="en-US" altLang="ko-KR" sz="2000" dirty="0"/>
              <a:t>“Quick read” enqueued while processing concurrent read?</a:t>
            </a:r>
            <a:endParaRPr lang="ko-KR" altLang="en-US" sz="2000" dirty="0"/>
          </a:p>
          <a:p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267CB9-F23C-4A57-824B-40449F2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33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D52E2F-7D81-46B2-9E09-66C72CB3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RW Lock: FIFO RW Lock + Quick read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BD8CE65-E0D3-40FC-8EE4-16FF1B44B5D2}"/>
              </a:ext>
            </a:extLst>
          </p:cNvPr>
          <p:cNvSpPr/>
          <p:nvPr/>
        </p:nvSpPr>
        <p:spPr>
          <a:xfrm>
            <a:off x="3694861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F845B9-949D-4681-B943-66E497C76D42}"/>
              </a:ext>
            </a:extLst>
          </p:cNvPr>
          <p:cNvSpPr/>
          <p:nvPr/>
        </p:nvSpPr>
        <p:spPr>
          <a:xfrm>
            <a:off x="4040852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40CD4A-2CE3-4BFC-AE5C-575C786115C6}"/>
              </a:ext>
            </a:extLst>
          </p:cNvPr>
          <p:cNvSpPr/>
          <p:nvPr/>
        </p:nvSpPr>
        <p:spPr>
          <a:xfrm>
            <a:off x="438684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9D14D2-6D8F-40A9-9612-62EFEB713A20}"/>
              </a:ext>
            </a:extLst>
          </p:cNvPr>
          <p:cNvSpPr/>
          <p:nvPr/>
        </p:nvSpPr>
        <p:spPr>
          <a:xfrm>
            <a:off x="598951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0375016-5300-4F16-9A61-3FCC7820A2BB}"/>
              </a:ext>
            </a:extLst>
          </p:cNvPr>
          <p:cNvSpPr/>
          <p:nvPr/>
        </p:nvSpPr>
        <p:spPr>
          <a:xfrm>
            <a:off x="6335519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F01B4A-C27E-42E9-BFA3-AFA05973F171}"/>
              </a:ext>
            </a:extLst>
          </p:cNvPr>
          <p:cNvSpPr/>
          <p:nvPr/>
        </p:nvSpPr>
        <p:spPr>
          <a:xfrm>
            <a:off x="668154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EB5E0D-A789-43C7-AFE8-EB9CC289FABE}"/>
              </a:ext>
            </a:extLst>
          </p:cNvPr>
          <p:cNvSpPr/>
          <p:nvPr/>
        </p:nvSpPr>
        <p:spPr>
          <a:xfrm>
            <a:off x="702757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A18FF-76FE-4CFE-9797-BC2DE0E3B05F}"/>
              </a:ext>
            </a:extLst>
          </p:cNvPr>
          <p:cNvSpPr/>
          <p:nvPr/>
        </p:nvSpPr>
        <p:spPr>
          <a:xfrm>
            <a:off x="771955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3DBE65-D2AB-4629-A964-B0DDD522732F}"/>
              </a:ext>
            </a:extLst>
          </p:cNvPr>
          <p:cNvSpPr/>
          <p:nvPr/>
        </p:nvSpPr>
        <p:spPr>
          <a:xfrm>
            <a:off x="806554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BE5292-9CBB-48EE-B3D0-70CA824CC7CE}"/>
              </a:ext>
            </a:extLst>
          </p:cNvPr>
          <p:cNvSpPr/>
          <p:nvPr/>
        </p:nvSpPr>
        <p:spPr>
          <a:xfrm>
            <a:off x="7373566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B4271C2-CDCC-48FE-9B59-5B7D61FAFFE1}"/>
              </a:ext>
            </a:extLst>
          </p:cNvPr>
          <p:cNvSpPr/>
          <p:nvPr/>
        </p:nvSpPr>
        <p:spPr>
          <a:xfrm flipH="1">
            <a:off x="5280241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62EF3-3B09-4781-9BAA-9466A1937220}"/>
              </a:ext>
            </a:extLst>
          </p:cNvPr>
          <p:cNvSpPr txBox="1"/>
          <p:nvPr/>
        </p:nvSpPr>
        <p:spPr>
          <a:xfrm>
            <a:off x="5067689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5D55274-50FB-4BB4-9B32-EF09B6FBB788}"/>
              </a:ext>
            </a:extLst>
          </p:cNvPr>
          <p:cNvSpPr/>
          <p:nvPr/>
        </p:nvSpPr>
        <p:spPr>
          <a:xfrm flipH="1">
            <a:off x="8923619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D648E-58B1-45ED-B90A-129D86704087}"/>
              </a:ext>
            </a:extLst>
          </p:cNvPr>
          <p:cNvSpPr txBox="1"/>
          <p:nvPr/>
        </p:nvSpPr>
        <p:spPr>
          <a:xfrm>
            <a:off x="8711067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21" name="왼쪽 중괄호 20">
            <a:extLst>
              <a:ext uri="{FF2B5EF4-FFF2-40B4-BE49-F238E27FC236}">
                <a16:creationId xmlns:a16="http://schemas.microsoft.com/office/drawing/2014/main" id="{45911AF9-3350-46EC-9B43-5CA8263B0AE6}"/>
              </a:ext>
            </a:extLst>
          </p:cNvPr>
          <p:cNvSpPr/>
          <p:nvPr/>
        </p:nvSpPr>
        <p:spPr>
          <a:xfrm rot="16200000">
            <a:off x="4031209" y="4540113"/>
            <a:ext cx="313038" cy="104078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0D2AE-C2AD-4992-9394-1C62849C6047}"/>
              </a:ext>
            </a:extLst>
          </p:cNvPr>
          <p:cNvSpPr txBox="1"/>
          <p:nvPr/>
        </p:nvSpPr>
        <p:spPr>
          <a:xfrm>
            <a:off x="3594913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26" name="왼쪽 대괄호 25">
            <a:extLst>
              <a:ext uri="{FF2B5EF4-FFF2-40B4-BE49-F238E27FC236}">
                <a16:creationId xmlns:a16="http://schemas.microsoft.com/office/drawing/2014/main" id="{ABB98B8D-6EA9-4C82-97DD-26A61E8D9369}"/>
              </a:ext>
            </a:extLst>
          </p:cNvPr>
          <p:cNvSpPr/>
          <p:nvPr/>
        </p:nvSpPr>
        <p:spPr>
          <a:xfrm rot="16200000">
            <a:off x="6081360" y="4814596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왼쪽 대괄호 26">
            <a:extLst>
              <a:ext uri="{FF2B5EF4-FFF2-40B4-BE49-F238E27FC236}">
                <a16:creationId xmlns:a16="http://schemas.microsoft.com/office/drawing/2014/main" id="{679B0E24-17A9-4FF1-AFE9-DD71C70FA4AC}"/>
              </a:ext>
            </a:extLst>
          </p:cNvPr>
          <p:cNvSpPr/>
          <p:nvPr/>
        </p:nvSpPr>
        <p:spPr>
          <a:xfrm rot="16200000">
            <a:off x="6427361" y="4818715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왼쪽 대괄호 27">
            <a:extLst>
              <a:ext uri="{FF2B5EF4-FFF2-40B4-BE49-F238E27FC236}">
                <a16:creationId xmlns:a16="http://schemas.microsoft.com/office/drawing/2014/main" id="{AC3D2017-71B8-4E46-AB55-61894F8EADA2}"/>
              </a:ext>
            </a:extLst>
          </p:cNvPr>
          <p:cNvSpPr/>
          <p:nvPr/>
        </p:nvSpPr>
        <p:spPr>
          <a:xfrm rot="16200000">
            <a:off x="6767292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왼쪽 대괄호 28">
            <a:extLst>
              <a:ext uri="{FF2B5EF4-FFF2-40B4-BE49-F238E27FC236}">
                <a16:creationId xmlns:a16="http://schemas.microsoft.com/office/drawing/2014/main" id="{4C36C946-E392-4B62-9BE8-D2F4DFAB0E4C}"/>
              </a:ext>
            </a:extLst>
          </p:cNvPr>
          <p:cNvSpPr/>
          <p:nvPr/>
        </p:nvSpPr>
        <p:spPr>
          <a:xfrm rot="16200000">
            <a:off x="7107223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444C4C1-9319-43DE-8E81-ACF9F2DD0D7E}"/>
              </a:ext>
            </a:extLst>
          </p:cNvPr>
          <p:cNvSpPr/>
          <p:nvPr/>
        </p:nvSpPr>
        <p:spPr>
          <a:xfrm rot="16200000">
            <a:off x="7459287" y="4826952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A83623FC-348C-4CD8-9846-5B7B986770ED}"/>
              </a:ext>
            </a:extLst>
          </p:cNvPr>
          <p:cNvSpPr/>
          <p:nvPr/>
        </p:nvSpPr>
        <p:spPr>
          <a:xfrm rot="16200000">
            <a:off x="7897699" y="4751735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3E640-EA04-4A13-8B39-5A881E670615}"/>
              </a:ext>
            </a:extLst>
          </p:cNvPr>
          <p:cNvSpPr txBox="1"/>
          <p:nvPr/>
        </p:nvSpPr>
        <p:spPr>
          <a:xfrm>
            <a:off x="7486602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3F4BF4-4C2F-4447-8EEF-438C618A5912}"/>
              </a:ext>
            </a:extLst>
          </p:cNvPr>
          <p:cNvSpPr txBox="1"/>
          <p:nvPr/>
        </p:nvSpPr>
        <p:spPr>
          <a:xfrm>
            <a:off x="6256178" y="5032360"/>
            <a:ext cx="1161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sequential</a:t>
            </a:r>
            <a:endParaRPr lang="ko-KR" altLang="en-US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E02B4AC-63F6-4FBB-AA60-D3145C9CBFA8}"/>
              </a:ext>
            </a:extLst>
          </p:cNvPr>
          <p:cNvCxnSpPr>
            <a:cxnSpLocks/>
          </p:cNvCxnSpPr>
          <p:nvPr/>
        </p:nvCxnSpPr>
        <p:spPr>
          <a:xfrm>
            <a:off x="5145245" y="3467775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95C43D-A63C-4ADA-BB9C-A4F30BE64CB8}"/>
              </a:ext>
            </a:extLst>
          </p:cNvPr>
          <p:cNvSpPr txBox="1"/>
          <p:nvPr/>
        </p:nvSpPr>
        <p:spPr>
          <a:xfrm>
            <a:off x="3979736" y="346777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4ABA07-4F96-48DA-BC3A-E64ABB36B35C}"/>
              </a:ext>
            </a:extLst>
          </p:cNvPr>
          <p:cNvSpPr txBox="1"/>
          <p:nvPr/>
        </p:nvSpPr>
        <p:spPr>
          <a:xfrm>
            <a:off x="5150653" y="346957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ED663A-C7D5-446F-A017-99EC42D5A491}"/>
              </a:ext>
            </a:extLst>
          </p:cNvPr>
          <p:cNvSpPr/>
          <p:nvPr/>
        </p:nvSpPr>
        <p:spPr>
          <a:xfrm>
            <a:off x="841695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0" name="왼쪽 중괄호 39">
            <a:extLst>
              <a:ext uri="{FF2B5EF4-FFF2-40B4-BE49-F238E27FC236}">
                <a16:creationId xmlns:a16="http://schemas.microsoft.com/office/drawing/2014/main" id="{DF60BE31-22B3-453E-807D-6E5195856528}"/>
              </a:ext>
            </a:extLst>
          </p:cNvPr>
          <p:cNvSpPr/>
          <p:nvPr/>
        </p:nvSpPr>
        <p:spPr>
          <a:xfrm rot="16200000">
            <a:off x="4202078" y="4365122"/>
            <a:ext cx="313038" cy="1382528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17868D2-9CED-4194-9B9A-2ABCFD73D1AD}"/>
              </a:ext>
            </a:extLst>
          </p:cNvPr>
          <p:cNvSpPr txBox="1"/>
          <p:nvPr/>
        </p:nvSpPr>
        <p:spPr>
          <a:xfrm>
            <a:off x="3015532" y="5518022"/>
            <a:ext cx="4172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Order in concurrent reads does not matter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245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30209 0.0006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104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43" grpId="0" animBg="1"/>
      <p:bldP spid="43" grpId="1" animBg="1"/>
      <p:bldP spid="40" grpId="0" animBg="1"/>
      <p:bldP spid="4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3731F3-3493-47D8-BD1B-4F042A727E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0" y="826040"/>
            <a:ext cx="11369963" cy="5205919"/>
          </a:xfrm>
        </p:spPr>
        <p:txBody>
          <a:bodyPr/>
          <a:lstStyle/>
          <a:p>
            <a:r>
              <a:rPr lang="en-US" altLang="ko-KR" sz="2000" dirty="0"/>
              <a:t>Handle requests in FIFO by default</a:t>
            </a:r>
          </a:p>
          <a:p>
            <a:r>
              <a:rPr lang="en-US" altLang="ko-KR" sz="2000" dirty="0"/>
              <a:t>Readers can be concurrently handled</a:t>
            </a:r>
          </a:p>
          <a:p>
            <a:r>
              <a:rPr lang="en-US" altLang="ko-KR" sz="2000" dirty="0"/>
              <a:t>Writers should be sequentially handled</a:t>
            </a:r>
          </a:p>
          <a:p>
            <a:r>
              <a:rPr lang="en-US" altLang="ko-KR" sz="2000" dirty="0"/>
              <a:t>“Quick read” </a:t>
            </a:r>
            <a:r>
              <a:rPr lang="en-US" altLang="ko-KR" sz="2000" dirty="0">
                <a:solidFill>
                  <a:srgbClr val="FF0000"/>
                </a:solidFill>
              </a:rPr>
              <a:t>preempts pending accesses (prioritized read)</a:t>
            </a:r>
            <a:endParaRPr lang="en-US" altLang="ko-KR" sz="2000" dirty="0"/>
          </a:p>
          <a:p>
            <a:r>
              <a:rPr lang="en-US" altLang="ko-KR" sz="2000" dirty="0"/>
              <a:t>“Quick read” enqueued while processing sequential write?</a:t>
            </a:r>
            <a:endParaRPr lang="ko-KR" altLang="en-US" sz="2000" dirty="0"/>
          </a:p>
          <a:p>
            <a:endParaRPr lang="en-US" altLang="ko-KR" sz="2000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5267CB9-F23C-4A57-824B-40449F210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34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3D52E2F-7D81-46B2-9E09-66C72CB37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 RW Lock: FIFO RW Lock + Quick read (2)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9D14D2-6D8F-40A9-9612-62EFEB713A20}"/>
              </a:ext>
            </a:extLst>
          </p:cNvPr>
          <p:cNvSpPr/>
          <p:nvPr/>
        </p:nvSpPr>
        <p:spPr>
          <a:xfrm>
            <a:off x="454430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EB5E0D-A789-43C7-AFE8-EB9CC289FABE}"/>
              </a:ext>
            </a:extLst>
          </p:cNvPr>
          <p:cNvSpPr/>
          <p:nvPr/>
        </p:nvSpPr>
        <p:spPr>
          <a:xfrm>
            <a:off x="7027575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9A18FF-76FE-4CFE-9797-BC2DE0E3B05F}"/>
              </a:ext>
            </a:extLst>
          </p:cNvPr>
          <p:cNvSpPr/>
          <p:nvPr/>
        </p:nvSpPr>
        <p:spPr>
          <a:xfrm>
            <a:off x="7719557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63DBE65-D2AB-4629-A964-B0DDD522732F}"/>
              </a:ext>
            </a:extLst>
          </p:cNvPr>
          <p:cNvSpPr/>
          <p:nvPr/>
        </p:nvSpPr>
        <p:spPr>
          <a:xfrm>
            <a:off x="8065548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</a:t>
            </a:r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BE5292-9CBB-48EE-B3D0-70CA824CC7CE}"/>
              </a:ext>
            </a:extLst>
          </p:cNvPr>
          <p:cNvSpPr/>
          <p:nvPr/>
        </p:nvSpPr>
        <p:spPr>
          <a:xfrm>
            <a:off x="7373566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w</a:t>
            </a:r>
            <a:endParaRPr lang="ko-KR" altLang="en-US" dirty="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2B4271C2-CDCC-48FE-9B59-5B7D61FAFFE1}"/>
              </a:ext>
            </a:extLst>
          </p:cNvPr>
          <p:cNvSpPr/>
          <p:nvPr/>
        </p:nvSpPr>
        <p:spPr>
          <a:xfrm flipH="1">
            <a:off x="5280244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62EF3-3B09-4781-9BAA-9466A1937220}"/>
              </a:ext>
            </a:extLst>
          </p:cNvPr>
          <p:cNvSpPr txBox="1"/>
          <p:nvPr/>
        </p:nvSpPr>
        <p:spPr>
          <a:xfrm>
            <a:off x="5067692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dequeue</a:t>
            </a:r>
            <a:endParaRPr lang="ko-KR" altLang="en-US" dirty="0"/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B5D55274-50FB-4BB4-9B32-EF09B6FBB788}"/>
              </a:ext>
            </a:extLst>
          </p:cNvPr>
          <p:cNvSpPr/>
          <p:nvPr/>
        </p:nvSpPr>
        <p:spPr>
          <a:xfrm flipH="1">
            <a:off x="8923619" y="4368526"/>
            <a:ext cx="593125" cy="53545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4D648E-58B1-45ED-B90A-129D86704087}"/>
              </a:ext>
            </a:extLst>
          </p:cNvPr>
          <p:cNvSpPr txBox="1"/>
          <p:nvPr/>
        </p:nvSpPr>
        <p:spPr>
          <a:xfrm>
            <a:off x="8711067" y="4021617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enqueue</a:t>
            </a:r>
            <a:endParaRPr lang="ko-KR" altLang="en-US" dirty="0"/>
          </a:p>
        </p:txBody>
      </p:sp>
      <p:sp>
        <p:nvSpPr>
          <p:cNvPr id="29" name="왼쪽 대괄호 28">
            <a:extLst>
              <a:ext uri="{FF2B5EF4-FFF2-40B4-BE49-F238E27FC236}">
                <a16:creationId xmlns:a16="http://schemas.microsoft.com/office/drawing/2014/main" id="{4C36C946-E392-4B62-9BE8-D2F4DFAB0E4C}"/>
              </a:ext>
            </a:extLst>
          </p:cNvPr>
          <p:cNvSpPr/>
          <p:nvPr/>
        </p:nvSpPr>
        <p:spPr>
          <a:xfrm rot="16200000">
            <a:off x="7107223" y="4826953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왼쪽 대괄호 29">
            <a:extLst>
              <a:ext uri="{FF2B5EF4-FFF2-40B4-BE49-F238E27FC236}">
                <a16:creationId xmlns:a16="http://schemas.microsoft.com/office/drawing/2014/main" id="{3444C4C1-9319-43DE-8E81-ACF9F2DD0D7E}"/>
              </a:ext>
            </a:extLst>
          </p:cNvPr>
          <p:cNvSpPr/>
          <p:nvPr/>
        </p:nvSpPr>
        <p:spPr>
          <a:xfrm rot="16200000">
            <a:off x="7459287" y="4826952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왼쪽 중괄호 31">
            <a:extLst>
              <a:ext uri="{FF2B5EF4-FFF2-40B4-BE49-F238E27FC236}">
                <a16:creationId xmlns:a16="http://schemas.microsoft.com/office/drawing/2014/main" id="{A83623FC-348C-4CD8-9846-5B7B986770ED}"/>
              </a:ext>
            </a:extLst>
          </p:cNvPr>
          <p:cNvSpPr/>
          <p:nvPr/>
        </p:nvSpPr>
        <p:spPr>
          <a:xfrm rot="16200000">
            <a:off x="7897699" y="4751735"/>
            <a:ext cx="313038" cy="665217"/>
          </a:xfrm>
          <a:prstGeom prst="leftBrace">
            <a:avLst>
              <a:gd name="adj1" fmla="val 504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33E640-EA04-4A13-8B39-5A881E670615}"/>
              </a:ext>
            </a:extLst>
          </p:cNvPr>
          <p:cNvSpPr txBox="1"/>
          <p:nvPr/>
        </p:nvSpPr>
        <p:spPr>
          <a:xfrm>
            <a:off x="7486602" y="5233503"/>
            <a:ext cx="1213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concurrent</a:t>
            </a:r>
            <a:endParaRPr lang="ko-KR" altLang="en-US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2C7EACAD-8208-4E5F-91F9-7940913A744B}"/>
              </a:ext>
            </a:extLst>
          </p:cNvPr>
          <p:cNvGrpSpPr/>
          <p:nvPr/>
        </p:nvGrpSpPr>
        <p:grpSpPr>
          <a:xfrm>
            <a:off x="6256178" y="4475618"/>
            <a:ext cx="1161985" cy="926074"/>
            <a:chOff x="6256178" y="4023122"/>
            <a:chExt cx="1161985" cy="926074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AD1CF2A-5531-4AC5-B627-6125DC821AA4}"/>
                </a:ext>
              </a:extLst>
            </p:cNvPr>
            <p:cNvGrpSpPr/>
            <p:nvPr/>
          </p:nvGrpSpPr>
          <p:grpSpPr>
            <a:xfrm>
              <a:off x="6335519" y="4023122"/>
              <a:ext cx="667304" cy="580769"/>
              <a:chOff x="6335519" y="4023122"/>
              <a:chExt cx="667304" cy="580769"/>
            </a:xfrm>
          </p:grpSpPr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F0375016-5300-4F16-9A61-3FCC7820A2BB}"/>
                  </a:ext>
                </a:extLst>
              </p:cNvPr>
              <p:cNvSpPr/>
              <p:nvPr/>
            </p:nvSpPr>
            <p:spPr>
              <a:xfrm>
                <a:off x="6335519" y="4023122"/>
                <a:ext cx="321276" cy="3212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</a:t>
                </a:r>
                <a:endParaRPr lang="ko-KR" altLang="en-US" dirty="0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E9F01B4A-C27E-42E9-BFA3-AFA05973F171}"/>
                  </a:ext>
                </a:extLst>
              </p:cNvPr>
              <p:cNvSpPr/>
              <p:nvPr/>
            </p:nvSpPr>
            <p:spPr>
              <a:xfrm>
                <a:off x="6681547" y="4023122"/>
                <a:ext cx="321276" cy="32127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w</a:t>
                </a:r>
                <a:endParaRPr lang="ko-KR" altLang="en-US" dirty="0"/>
              </a:p>
            </p:txBody>
          </p:sp>
          <p:sp>
            <p:nvSpPr>
              <p:cNvPr id="27" name="왼쪽 대괄호 26">
                <a:extLst>
                  <a:ext uri="{FF2B5EF4-FFF2-40B4-BE49-F238E27FC236}">
                    <a16:creationId xmlns:a16="http://schemas.microsoft.com/office/drawing/2014/main" id="{679B0E24-17A9-4FF1-AFE9-DD71C70FA4AC}"/>
                  </a:ext>
                </a:extLst>
              </p:cNvPr>
              <p:cNvSpPr/>
              <p:nvPr/>
            </p:nvSpPr>
            <p:spPr>
              <a:xfrm rot="16200000">
                <a:off x="6427361" y="4366219"/>
                <a:ext cx="137593" cy="32127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8" name="왼쪽 대괄호 27">
                <a:extLst>
                  <a:ext uri="{FF2B5EF4-FFF2-40B4-BE49-F238E27FC236}">
                    <a16:creationId xmlns:a16="http://schemas.microsoft.com/office/drawing/2014/main" id="{AC3D2017-71B8-4E46-AB55-61894F8EADA2}"/>
                  </a:ext>
                </a:extLst>
              </p:cNvPr>
              <p:cNvSpPr/>
              <p:nvPr/>
            </p:nvSpPr>
            <p:spPr>
              <a:xfrm rot="16200000">
                <a:off x="6767292" y="4374457"/>
                <a:ext cx="137593" cy="321275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3F4BF4-4C2F-4447-8EEF-438C618A5912}"/>
                </a:ext>
              </a:extLst>
            </p:cNvPr>
            <p:cNvSpPr txBox="1"/>
            <p:nvPr/>
          </p:nvSpPr>
          <p:spPr>
            <a:xfrm>
              <a:off x="6256178" y="4579864"/>
              <a:ext cx="1161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sequential</a:t>
              </a:r>
              <a:endParaRPr lang="ko-KR" altLang="en-US" dirty="0"/>
            </a:p>
          </p:txBody>
        </p:sp>
      </p:grp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0E02B4AC-63F6-4FBB-AA60-D3145C9CBFA8}"/>
              </a:ext>
            </a:extLst>
          </p:cNvPr>
          <p:cNvCxnSpPr>
            <a:cxnSpLocks/>
          </p:cNvCxnSpPr>
          <p:nvPr/>
        </p:nvCxnSpPr>
        <p:spPr>
          <a:xfrm>
            <a:off x="5145250" y="3467775"/>
            <a:ext cx="0" cy="199944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795C43D-A63C-4ADA-BB9C-A4F30BE64CB8}"/>
              </a:ext>
            </a:extLst>
          </p:cNvPr>
          <p:cNvSpPr txBox="1"/>
          <p:nvPr/>
        </p:nvSpPr>
        <p:spPr>
          <a:xfrm>
            <a:off x="3979741" y="346777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accessing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4ABA07-4F96-48DA-BC3A-E64ABB36B35C}"/>
              </a:ext>
            </a:extLst>
          </p:cNvPr>
          <p:cNvSpPr txBox="1"/>
          <p:nvPr/>
        </p:nvSpPr>
        <p:spPr>
          <a:xfrm>
            <a:off x="5150653" y="3469574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pending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AED663A-C7D5-446F-A017-99EC42D5A491}"/>
              </a:ext>
            </a:extLst>
          </p:cNvPr>
          <p:cNvSpPr/>
          <p:nvPr/>
        </p:nvSpPr>
        <p:spPr>
          <a:xfrm>
            <a:off x="8416953" y="4475618"/>
            <a:ext cx="321276" cy="3212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rgbClr val="FF0000"/>
                </a:solidFill>
              </a:rPr>
              <a:t>q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왼쪽 대괄호 30">
            <a:extLst>
              <a:ext uri="{FF2B5EF4-FFF2-40B4-BE49-F238E27FC236}">
                <a16:creationId xmlns:a16="http://schemas.microsoft.com/office/drawing/2014/main" id="{0EC2CF51-B466-44DD-9928-83D7205FAA44}"/>
              </a:ext>
            </a:extLst>
          </p:cNvPr>
          <p:cNvSpPr/>
          <p:nvPr/>
        </p:nvSpPr>
        <p:spPr>
          <a:xfrm rot="16200000">
            <a:off x="6081360" y="4814596"/>
            <a:ext cx="137593" cy="321275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058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4.07407E-6 L -0.20105 0.0006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3" grpId="1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CD38FE-15ED-4CA5-8485-761E6B54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35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0CB9643-6A35-49D3-84AF-B61C723D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837466-725C-456F-B94F-56B7F0D3BC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369963" cy="5140325"/>
          </a:xfrm>
        </p:spPr>
        <p:txBody>
          <a:bodyPr/>
          <a:lstStyle/>
          <a:p>
            <a:r>
              <a:rPr lang="en-US" altLang="ko-KR" sz="2000" dirty="0"/>
              <a:t>Combination of FIFO RW lock and Reader-priority RW lock</a:t>
            </a:r>
          </a:p>
          <a:p>
            <a:r>
              <a:rPr lang="en-US" altLang="ko-KR" sz="2000" b="1" dirty="0"/>
              <a:t>Not </a:t>
            </a:r>
            <a:r>
              <a:rPr lang="en-US" altLang="ko-KR" sz="2000" dirty="0"/>
              <a:t>allowed to use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pthread_rwlock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API</a:t>
            </a:r>
          </a:p>
          <a:p>
            <a:r>
              <a:rPr lang="en-US" altLang="ko-KR" sz="2000" dirty="0"/>
              <a:t>Implement your </a:t>
            </a:r>
            <a:r>
              <a:rPr lang="en-US" altLang="ko-KR" sz="2000" b="1" dirty="0"/>
              <a:t>own </a:t>
            </a:r>
            <a:r>
              <a:rPr lang="en-US" altLang="ko-KR" sz="2000" dirty="0"/>
              <a:t>one</a:t>
            </a:r>
            <a:r>
              <a:rPr lang="en-US" altLang="ko-KR" sz="2000" b="1" dirty="0"/>
              <a:t> </a:t>
            </a:r>
            <a:r>
              <a:rPr lang="en-US" altLang="ko-KR" sz="2000" dirty="0"/>
              <a:t>in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rwlock.c</a:t>
            </a:r>
            <a:r>
              <a:rPr lang="en-US" altLang="ko-KR" sz="2000" dirty="0"/>
              <a:t> using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pthread_mutex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2000" dirty="0"/>
              <a:t>and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pthread_cond</a:t>
            </a:r>
            <a:r>
              <a:rPr lang="en-US" altLang="ko-KR" sz="2000" dirty="0"/>
              <a:t> API</a:t>
            </a:r>
          </a:p>
          <a:p>
            <a:endParaRPr lang="en-US" altLang="ko-KR" sz="2000" dirty="0"/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rwlock_init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delay)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quick)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rwlock_destroy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56414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9D5B8F-8E03-4DF6-B144-A6225E24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A625B80-332F-4A25-B380-3EE88B35F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AEC16C-EAA8-4FDC-8DC5-AAA5E58DAC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981" y="939800"/>
            <a:ext cx="11369963" cy="5140325"/>
          </a:xfrm>
        </p:spPr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hash_insert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*value)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Duplicates key and value</a:t>
            </a:r>
          </a:p>
          <a:p>
            <a:pPr lvl="1"/>
            <a:r>
              <a:rPr lang="en-US" altLang="ko-KR" sz="1800" dirty="0"/>
              <a:t>Fills node structure and inserts node to the</a:t>
            </a:r>
            <a:r>
              <a:rPr lang="ko-KR" altLang="en-US" sz="1800" dirty="0"/>
              <a:t> </a:t>
            </a:r>
            <a:r>
              <a:rPr lang="en-US" altLang="ko-KR" sz="1800" dirty="0"/>
              <a:t>table</a:t>
            </a:r>
          </a:p>
          <a:p>
            <a:pPr lvl="1"/>
            <a:r>
              <a:rPr lang="en-US" altLang="ko-KR" sz="1800" dirty="0"/>
              <a:t>Returns 0 if collision, 1 if inserted, -1 if any internal error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hash_read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dst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int quick)</a:t>
            </a:r>
          </a:p>
          <a:p>
            <a:pPr lvl="1"/>
            <a:r>
              <a:rPr lang="en-US" altLang="ko-KR" sz="1800" dirty="0"/>
              <a:t>Needs a </a:t>
            </a:r>
            <a:r>
              <a:rPr lang="en-US" altLang="ko-KR" sz="1800" b="1" dirty="0"/>
              <a:t>read lock</a:t>
            </a:r>
          </a:p>
          <a:p>
            <a:pPr lvl="1"/>
            <a:r>
              <a:rPr lang="en-US" altLang="ko-KR" sz="1800" dirty="0"/>
              <a:t>Returns 0 if not found, 1 (and outputs to </a:t>
            </a:r>
            <a:r>
              <a:rPr lang="en-US" altLang="ko-K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-US" altLang="ko-KR" sz="1800" dirty="0"/>
              <a:t>) if found, -1 if any internal error</a:t>
            </a:r>
          </a:p>
          <a:p>
            <a:pPr lvl="1"/>
            <a:r>
              <a:rPr lang="en-US" altLang="ko-KR" sz="1800" dirty="0"/>
              <a:t>If found, </a:t>
            </a:r>
            <a:r>
              <a:rPr lang="en-US" altLang="ko-KR" sz="1800" b="1" dirty="0"/>
              <a:t>copies the value to </a:t>
            </a:r>
            <a:r>
              <a:rPr lang="en-US" altLang="ko-KR" sz="1800" b="1" dirty="0" err="1"/>
              <a:t>dst</a:t>
            </a:r>
            <a:r>
              <a:rPr lang="en-US" altLang="ko-KR" sz="1800" b="1" dirty="0"/>
              <a:t> before releasing </a:t>
            </a:r>
            <a:r>
              <a:rPr lang="en-US" altLang="ko-KR" sz="1800" b="1" dirty="0" err="1"/>
              <a:t>rlock</a:t>
            </a:r>
            <a:endParaRPr lang="en-US" altLang="ko-KR" sz="1800" b="1" dirty="0"/>
          </a:p>
          <a:p>
            <a:pPr lvl="1"/>
            <a:r>
              <a:rPr lang="en-US" altLang="ko-KR" sz="1800" b="1" dirty="0"/>
              <a:t>If quick set, should preempt pending accesses</a:t>
            </a:r>
          </a:p>
          <a:p>
            <a:pPr lvl="1"/>
            <a:endParaRPr lang="en-US" altLang="ko-KR" sz="18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642150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CB82F76-C07E-44B0-93E2-F2900B54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37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DF8F597-2933-4083-A449-18574868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hashtable.c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8761DF-782D-4AC9-84C5-D32DD25AA3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hash_update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*key, char *value)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Duplicates value</a:t>
            </a:r>
          </a:p>
          <a:p>
            <a:pPr lvl="1"/>
            <a:r>
              <a:rPr lang="en-US" altLang="ko-KR" sz="1800" dirty="0"/>
              <a:t>Updates node-&gt;value to new one</a:t>
            </a:r>
          </a:p>
          <a:p>
            <a:pPr lvl="1"/>
            <a:r>
              <a:rPr lang="en-US" altLang="ko-KR" sz="1800" dirty="0"/>
              <a:t>Free old value</a:t>
            </a:r>
          </a:p>
          <a:p>
            <a:pPr lvl="1"/>
            <a:r>
              <a:rPr lang="en-US" altLang="ko-KR" sz="1800" dirty="0"/>
              <a:t>Returns 0 if not found, 1 if updated, -1 if any internal error</a:t>
            </a:r>
          </a:p>
          <a:p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hash_delete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hashtable_t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*table, char *key)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Needs a </a:t>
            </a:r>
            <a:r>
              <a:rPr lang="en-US" altLang="ko-KR" sz="1800" b="1" dirty="0">
                <a:ea typeface="Tahoma" panose="020B0604030504040204" pitchFamily="34" charset="0"/>
              </a:rPr>
              <a:t>write lock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Frees key and value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Evicts from the table</a:t>
            </a:r>
          </a:p>
          <a:p>
            <a:pPr lvl="1"/>
            <a:r>
              <a:rPr lang="en-US" altLang="ko-KR" sz="1800" dirty="0">
                <a:ea typeface="Tahoma" panose="020B0604030504040204" pitchFamily="34" charset="0"/>
              </a:rPr>
              <a:t>Returns 0 if not found, 1 if deleted, -1 if any internal error</a:t>
            </a:r>
          </a:p>
        </p:txBody>
      </p:sp>
    </p:spTree>
    <p:extLst>
      <p:ext uri="{BB962C8B-B14F-4D97-AF65-F5344CB8AC3E}">
        <p14:creationId xmlns:p14="http://schemas.microsoft.com/office/powerpoint/2010/main" val="1430792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CBF8FF9-D8B8-457F-B15C-056573A5E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375956-1EEA-40A7-AAA8-609A0214E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Dumping Global Hash Table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905C74-CE6F-494E-BE96-2F6E3BE52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000" dirty="0"/>
              <a:t>Your SKVS server should dump the hash table using 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skvs_destroy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ko-K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1) </a:t>
            </a:r>
            <a:r>
              <a:rPr lang="en-US" altLang="ko-KR" sz="2000" dirty="0"/>
              <a:t>before exit on SIGINT</a:t>
            </a:r>
          </a:p>
          <a:p>
            <a:r>
              <a:rPr lang="en-US" altLang="ko-KR" sz="2000" dirty="0"/>
              <a:t>Register SIGINT handler for dump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563864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63CAC18-9E55-4F0F-A556-70A6A325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39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88700A46-9034-4EB9-921C-E2A3CBAB1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Requirements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B010FE-620B-4FA7-BEA2-2D2BAC4EE5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Concurrent multiple readers’ access to the global hash table</a:t>
            </a:r>
          </a:p>
          <a:p>
            <a:r>
              <a:rPr lang="en-US" altLang="ko-KR" dirty="0"/>
              <a:t>Correct RW lock semantic (FIFO + reader-priority)</a:t>
            </a:r>
          </a:p>
          <a:p>
            <a:r>
              <a:rPr lang="en-US" altLang="ko-KR" dirty="0"/>
              <a:t>Print the entries in the global hash table using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hash_dump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altLang="ko-KR" dirty="0"/>
              <a:t>Do not modify this function</a:t>
            </a:r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68189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04B8-43B1-7A6D-647C-178F28995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/>
            </a:br>
            <a:r>
              <a:rPr lang="en-US" altLang="ko-KR" dirty="0"/>
              <a:t>Debugging and Testing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039017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41</a:t>
            </a:fld>
            <a:r>
              <a:rPr lang="en-US" altLang="ko-KR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Reference Binaries for self-checking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350981" y="939800"/>
            <a:ext cx="11369963" cy="5140325"/>
          </a:xfrm>
        </p:spPr>
        <p:txBody>
          <a:bodyPr/>
          <a:lstStyle/>
          <a:p>
            <a:pPr>
              <a:defRPr/>
            </a:pPr>
            <a:r>
              <a:rPr lang="en-US" altLang="ko-KR" b="0" i="0" dirty="0">
                <a:solidFill>
                  <a:srgbClr val="1F1F1F"/>
                </a:solidFill>
                <a:effectLst/>
                <a:ea typeface="Tahoma" panose="020B0604030504040204" pitchFamily="34" charset="0"/>
              </a:rPr>
              <a:t>Reference server/client binaries will be provided</a:t>
            </a:r>
          </a:p>
          <a:p>
            <a:pPr lvl="1"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No support for Mac, windows</a:t>
            </a:r>
          </a:p>
          <a:p>
            <a:pPr>
              <a:defRPr/>
            </a:pPr>
            <a:r>
              <a:rPr lang="en-US" altLang="ko-KR" dirty="0">
                <a:solidFill>
                  <a:srgbClr val="1F1F1F"/>
                </a:solidFill>
                <a:ea typeface="Tahoma" panose="020B0604030504040204" pitchFamily="34" charset="0"/>
              </a:rPr>
              <a:t>For any ambiguities, please refer to the reference server/client</a:t>
            </a:r>
            <a:endParaRPr lang="en-US" altLang="ko-KR" dirty="0">
              <a:ea typeface="Tahoma" panose="020B0604030504040204" pitchFamily="34" charset="0"/>
            </a:endParaRPr>
          </a:p>
          <a:p>
            <a:pPr lvl="0">
              <a:defRPr/>
            </a:pPr>
            <a:endParaRPr lang="en-US" altLang="ko-KR" dirty="0">
              <a:ea typeface="Tahoma" panose="020B0604030504040204" pitchFamily="34" charset="0"/>
            </a:endParaRPr>
          </a:p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You may use </a:t>
            </a: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TRACE_PRINT()</a:t>
            </a:r>
            <a:r>
              <a:rPr lang="en-US" altLang="ko-KR" dirty="0">
                <a:ea typeface="Tahoma" panose="020B0604030504040204" pitchFamily="34" charset="0"/>
              </a:rPr>
              <a:t> and </a:t>
            </a: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DEBUG_PRINT() </a:t>
            </a:r>
            <a:r>
              <a:rPr lang="en-US" altLang="ko-KR" dirty="0">
                <a:ea typeface="Tahoma" panose="020B0604030504040204" pitchFamily="34" charset="0"/>
              </a:rPr>
              <a:t>for debugging</a:t>
            </a:r>
          </a:p>
          <a:p>
            <a:pPr marL="457189" lvl="1" indent="0">
              <a:buNone/>
              <a:defRPr/>
            </a:pP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CFLAGS += -DTRACE</a:t>
            </a:r>
          </a:p>
          <a:p>
            <a:pPr marL="457189" lvl="1" indent="0">
              <a:buNone/>
              <a:defRPr/>
            </a:pPr>
            <a:r>
              <a:rPr lang="en-US" altLang="ko-KR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CFLAGS += -DDEBUG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42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Write Lock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US" altLang="ko-KR" sz="1400" dirty="0"/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1\n”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2\n”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3\n”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4\n”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2 receives “COLLISION\n”</a:t>
            </a:r>
          </a:p>
          <a:p>
            <a:pPr marL="342900" indent="-342900">
              <a:buFont typeface="+mj-lt"/>
              <a:buAutoNum type="arabicPeriod" startAt="9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“COLLISION\n”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“COLLISION\n”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4182386" y="1949380"/>
            <a:ext cx="2580155" cy="16684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4182386" y="2562330"/>
            <a:ext cx="2580155" cy="1667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182386" y="3145134"/>
            <a:ext cx="2580155" cy="16654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33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43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Read Lock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914389" lvl="1" indent="-457200">
              <a:buFont typeface="+mj-lt"/>
              <a:buAutoNum type="arabicPeriod"/>
            </a:pPr>
            <a:endParaRPr lang="en-US" altLang="ko-KR" sz="1400" dirty="0"/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2 receives “world\n”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lvl="1"/>
            <a:r>
              <a:rPr lang="en-US" altLang="ko-KR" sz="1400" dirty="0"/>
              <a:t>Check whether client 4 receives “world\n”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5153" y="1970844"/>
            <a:ext cx="3000653" cy="16469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835153" y="2228296"/>
            <a:ext cx="3000653" cy="1993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3835153" y="2485748"/>
            <a:ext cx="3000653" cy="23406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90A34FD-8363-4DA6-B966-5FD16A08DB35}"/>
              </a:ext>
            </a:extLst>
          </p:cNvPr>
          <p:cNvSpPr txBox="1"/>
          <p:nvPr/>
        </p:nvSpPr>
        <p:spPr>
          <a:xfrm rot="19638438">
            <a:off x="4307984" y="3040553"/>
            <a:ext cx="1598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simultaneously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559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44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FIFO Scenario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bye\n”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“UPDATE hello </a:t>
            </a:r>
            <a:r>
              <a:rPr lang="en-US" altLang="ko-KR" sz="1600" dirty="0" err="1"/>
              <a:t>snu</a:t>
            </a:r>
            <a:r>
              <a:rPr lang="en-US" altLang="ko-KR" sz="1600" dirty="0"/>
              <a:t>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hello\n” on client 5</a:t>
            </a:r>
          </a:p>
          <a:p>
            <a:pPr lvl="1"/>
            <a:r>
              <a:rPr lang="en-US" altLang="ko-KR" sz="1400" dirty="0"/>
              <a:t>Check whether client 5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6</a:t>
            </a:r>
          </a:p>
          <a:p>
            <a:pPr lvl="1"/>
            <a:r>
              <a:rPr lang="en-US" altLang="ko-KR" sz="1400" dirty="0"/>
              <a:t>Check whether client 6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lvl="1"/>
            <a:r>
              <a:rPr lang="en-US" altLang="ko-KR" sz="1400" dirty="0"/>
              <a:t>Check whether client 2 receives “NOT FOUND\n” (why?)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“UPDATE OK\n”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5 receives “DELETE OK\n”</a:t>
            </a:r>
          </a:p>
          <a:p>
            <a:pPr marL="342900" indent="-342900">
              <a:buFont typeface="+mj-lt"/>
              <a:buAutoNum type="arabicPeriod" startAt="11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6 receives “NOT FOUND\n”</a:t>
            </a:r>
          </a:p>
          <a:p>
            <a:pPr lvl="1"/>
            <a:endParaRPr lang="en-US" altLang="ko-KR" sz="1400" dirty="0"/>
          </a:p>
          <a:p>
            <a:pPr lvl="1"/>
            <a:endParaRPr lang="en-US" altLang="ko-KR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5153" y="2215300"/>
            <a:ext cx="3000653" cy="1744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835153" y="4085969"/>
            <a:ext cx="3000653" cy="170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412974" y="2818614"/>
            <a:ext cx="2422832" cy="17692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549D8B-C939-4948-8F61-38557DE7CAE7}"/>
              </a:ext>
            </a:extLst>
          </p:cNvPr>
          <p:cNvCxnSpPr>
            <a:cxnSpLocks/>
          </p:cNvCxnSpPr>
          <p:nvPr/>
        </p:nvCxnSpPr>
        <p:spPr>
          <a:xfrm flipV="1">
            <a:off x="3991555" y="3429001"/>
            <a:ext cx="2844251" cy="173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740E8C4-BF99-4069-B3FB-76DBB9B2FA64}"/>
              </a:ext>
            </a:extLst>
          </p:cNvPr>
          <p:cNvCxnSpPr>
            <a:cxnSpLocks/>
          </p:cNvCxnSpPr>
          <p:nvPr/>
        </p:nvCxnSpPr>
        <p:spPr>
          <a:xfrm flipV="1">
            <a:off x="3896139" y="1640265"/>
            <a:ext cx="2939667" cy="17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3AEE632-B615-4FF3-8D02-D739CCF2606B}"/>
              </a:ext>
            </a:extLst>
          </p:cNvPr>
          <p:cNvCxnSpPr>
            <a:cxnSpLocks/>
          </p:cNvCxnSpPr>
          <p:nvPr/>
        </p:nvCxnSpPr>
        <p:spPr>
          <a:xfrm flipV="1">
            <a:off x="4572000" y="1400983"/>
            <a:ext cx="2263806" cy="13501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79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C9508F2-0BD0-4FAC-827F-9010410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fld id="{3D16D23B-24D6-455E-BBD7-6975BEA16FD4}" type="slidenum">
              <a:rPr lang="ko-KR" altLang="en-US" smtClean="0"/>
              <a:pPr/>
              <a:t>45</a:t>
            </a:fld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C844149-13E8-4497-9A87-8297E6836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Self-testing for Quick Read Scenario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6578A61-C227-4573-B67A-4037C0C7EE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39800"/>
            <a:ext cx="11625425" cy="5140325"/>
          </a:xfrm>
        </p:spPr>
        <p:txBody>
          <a:bodyPr/>
          <a:lstStyle/>
          <a:p>
            <a:r>
              <a:rPr lang="en-US" altLang="ko-KR" sz="1600" dirty="0"/>
              <a:t>Before testing, check below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Implement server/client first with </a:t>
            </a:r>
            <a:r>
              <a:rPr lang="en-US" altLang="ko-KR" sz="1400" b="1" dirty="0"/>
              <a:t>robust read/write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/>
              <a:t>Your server </a:t>
            </a:r>
            <a:r>
              <a:rPr lang="en-US" altLang="ko-KR" sz="1400" b="1" dirty="0"/>
              <a:t>must </a:t>
            </a:r>
            <a:r>
              <a:rPr lang="en-US" altLang="ko-KR" sz="1400" dirty="0"/>
              <a:t>be ready for concurrency first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US" altLang="ko-K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./server </a:t>
            </a:r>
            <a:r>
              <a:rPr lang="en-US" altLang="ko-KR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–d 5</a:t>
            </a:r>
          </a:p>
          <a:p>
            <a:pPr marL="914377" lvl="2" indent="0">
              <a:buNone/>
            </a:pP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sleep(5) </a:t>
            </a:r>
            <a:r>
              <a:rPr lang="en-US" altLang="ko-KR" sz="1200" dirty="0"/>
              <a:t>in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rwlock_write_unlock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lang="en-US" altLang="ko-KR" sz="1200" dirty="0"/>
              <a:t> </a:t>
            </a:r>
            <a:r>
              <a:rPr lang="en-US" altLang="ko-KR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rwlock_read_unlock</a:t>
            </a:r>
            <a:r>
              <a:rPr lang="en-US" altLang="ko-KR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altLang="ko-KR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sz="1600" dirty="0"/>
              <a:t>Example test scenario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“CREATE hello world\n” on client 1</a:t>
            </a:r>
          </a:p>
          <a:p>
            <a:pPr lvl="1"/>
            <a:r>
              <a:rPr lang="en-US" altLang="ko-KR" sz="1400" dirty="0"/>
              <a:t>It will hold a write lock for 5 seconds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bye\n” on client 2</a:t>
            </a:r>
          </a:p>
          <a:p>
            <a:pPr lvl="1"/>
            <a:r>
              <a:rPr lang="en-US" altLang="ko-KR" sz="1400" dirty="0"/>
              <a:t>Check whether client 2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“READ hello\n” on client 3</a:t>
            </a:r>
          </a:p>
          <a:p>
            <a:pPr lvl="1"/>
            <a:r>
              <a:rPr lang="en-US" altLang="ko-KR" sz="1400" dirty="0"/>
              <a:t>Check whether client 3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“UPDATE hello </a:t>
            </a:r>
            <a:r>
              <a:rPr lang="en-US" altLang="ko-KR" sz="1600" dirty="0" err="1"/>
              <a:t>snu</a:t>
            </a:r>
            <a:r>
              <a:rPr lang="en-US" altLang="ko-KR" sz="1600" dirty="0"/>
              <a:t>\n” on client 4</a:t>
            </a:r>
          </a:p>
          <a:p>
            <a:pPr lvl="1"/>
            <a:r>
              <a:rPr lang="en-US" altLang="ko-KR" sz="1400" dirty="0"/>
              <a:t>Check whether client 4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“DELETE hello\n” on client 5</a:t>
            </a:r>
          </a:p>
          <a:p>
            <a:pPr lvl="1"/>
            <a:r>
              <a:rPr lang="en-US" altLang="ko-KR" sz="1400" dirty="0"/>
              <a:t>Check whether client 5 gets stuck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1600" dirty="0"/>
              <a:t>Send “</a:t>
            </a:r>
            <a:r>
              <a:rPr lang="en-US" altLang="ko-KR" sz="1600" dirty="0">
                <a:solidFill>
                  <a:srgbClr val="FF0000"/>
                </a:solidFill>
              </a:rPr>
              <a:t>QREAD</a:t>
            </a:r>
            <a:r>
              <a:rPr lang="en-US" altLang="ko-KR" sz="1600" dirty="0"/>
              <a:t> hello\n” on client 6</a:t>
            </a:r>
          </a:p>
          <a:p>
            <a:pPr lvl="1"/>
            <a:r>
              <a:rPr lang="en-US" altLang="ko-KR" sz="1400" dirty="0"/>
              <a:t>Check whether client 6 gets stuck</a:t>
            </a: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2C0B42C0-05B5-4EA0-A8AC-EF29F3B1E406}"/>
              </a:ext>
            </a:extLst>
          </p:cNvPr>
          <p:cNvSpPr txBox="1">
            <a:spLocks/>
          </p:cNvSpPr>
          <p:nvPr/>
        </p:nvSpPr>
        <p:spPr>
          <a:xfrm>
            <a:off x="6312023" y="940713"/>
            <a:ext cx="5761608" cy="5140325"/>
          </a:xfrm>
          <a:prstGeom prst="rect">
            <a:avLst/>
          </a:prstGeom>
          <a:noFill/>
          <a:ln w="12700" cap="flat" cmpd="sng" algn="ctr">
            <a:noFill/>
            <a:prstDash val="solid"/>
            <a:miter/>
          </a:ln>
          <a:effectLst/>
        </p:spPr>
        <p:txBody>
          <a:bodyPr/>
          <a:lstStyle>
            <a:lvl1pPr marL="228594" indent="-228594" algn="l" defTabSz="914377" rtl="0" eaLnBrk="1" latinLnBrk="1" hangingPunct="1">
              <a:lnSpc>
                <a:spcPct val="90000"/>
              </a:lnSpc>
              <a:spcBef>
                <a:spcPts val="1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§"/>
              <a:defRPr sz="24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  <a:lvl2pPr marL="68578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2pPr>
            <a:lvl3pPr marL="1142971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3pPr>
            <a:lvl4pPr marL="1600160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4pPr>
            <a:lvl5pPr marL="2057349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dk1"/>
                </a:solidFill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5pPr>
            <a:lvl6pPr marL="2514537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 startAt="7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1 receives “CREATE OK\n”</a:t>
            </a:r>
          </a:p>
          <a:p>
            <a:pPr lvl="1"/>
            <a:r>
              <a:rPr lang="en-US" altLang="ko-KR" sz="1400" dirty="0"/>
              <a:t>Check whether client 2 receives “NOT FOUND\n” (why?)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3 receives “world\n”</a:t>
            </a:r>
          </a:p>
          <a:p>
            <a:pPr lvl="1"/>
            <a:r>
              <a:rPr lang="en-US" altLang="ko-KR" sz="1400" dirty="0"/>
              <a:t>Check whether client 6 receives “world\n”</a:t>
            </a:r>
          </a:p>
          <a:p>
            <a:pPr marL="342900" indent="-342900">
              <a:buFont typeface="+mj-lt"/>
              <a:buAutoNum type="arabicPeriod" startAt="8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4 receives “UPDATE OK\n”</a:t>
            </a:r>
          </a:p>
          <a:p>
            <a:pPr marL="342900" indent="-342900">
              <a:buFont typeface="+mj-lt"/>
              <a:buAutoNum type="arabicPeriod" startAt="10"/>
            </a:pPr>
            <a:r>
              <a:rPr lang="en-US" altLang="ko-KR" sz="1600" dirty="0"/>
              <a:t>After 5 seconds…</a:t>
            </a:r>
          </a:p>
          <a:p>
            <a:pPr lvl="1"/>
            <a:r>
              <a:rPr lang="en-US" altLang="ko-KR" sz="1400" dirty="0"/>
              <a:t>Check whether client 5 receives “DELETE OK\n”</a:t>
            </a:r>
          </a:p>
          <a:p>
            <a:pPr lvl="1"/>
            <a:endParaRPr lang="en-US" altLang="ko-KR" sz="1400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03F1BC72-C7F9-4165-B316-15CBF5064B76}"/>
              </a:ext>
            </a:extLst>
          </p:cNvPr>
          <p:cNvCxnSpPr>
            <a:cxnSpLocks/>
          </p:cNvCxnSpPr>
          <p:nvPr/>
        </p:nvCxnSpPr>
        <p:spPr>
          <a:xfrm flipV="1">
            <a:off x="3832529" y="2215302"/>
            <a:ext cx="3003277" cy="1752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BE69378-9FFF-4CDD-872C-0151ED9BBC77}"/>
              </a:ext>
            </a:extLst>
          </p:cNvPr>
          <p:cNvCxnSpPr>
            <a:cxnSpLocks/>
          </p:cNvCxnSpPr>
          <p:nvPr/>
        </p:nvCxnSpPr>
        <p:spPr>
          <a:xfrm flipV="1">
            <a:off x="3959750" y="2498103"/>
            <a:ext cx="2876056" cy="329839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B3953384-D115-4536-8189-4FFD84566122}"/>
              </a:ext>
            </a:extLst>
          </p:cNvPr>
          <p:cNvCxnSpPr>
            <a:cxnSpLocks/>
          </p:cNvCxnSpPr>
          <p:nvPr/>
        </p:nvCxnSpPr>
        <p:spPr>
          <a:xfrm flipV="1">
            <a:off x="4436828" y="3073138"/>
            <a:ext cx="2398978" cy="1498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83549D8B-C939-4948-8F61-38557DE7CAE7}"/>
              </a:ext>
            </a:extLst>
          </p:cNvPr>
          <p:cNvCxnSpPr>
            <a:cxnSpLocks/>
          </p:cNvCxnSpPr>
          <p:nvPr/>
        </p:nvCxnSpPr>
        <p:spPr>
          <a:xfrm flipV="1">
            <a:off x="4015409" y="3667029"/>
            <a:ext cx="2820397" cy="1493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740E8C4-BF99-4069-B3FB-76DBB9B2FA64}"/>
              </a:ext>
            </a:extLst>
          </p:cNvPr>
          <p:cNvCxnSpPr>
            <a:cxnSpLocks/>
          </p:cNvCxnSpPr>
          <p:nvPr/>
        </p:nvCxnSpPr>
        <p:spPr>
          <a:xfrm flipV="1">
            <a:off x="3896139" y="1640265"/>
            <a:ext cx="2939667" cy="17231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3AEE632-B615-4FF3-8D02-D739CCF2606B}"/>
              </a:ext>
            </a:extLst>
          </p:cNvPr>
          <p:cNvCxnSpPr>
            <a:cxnSpLocks/>
          </p:cNvCxnSpPr>
          <p:nvPr/>
        </p:nvCxnSpPr>
        <p:spPr>
          <a:xfrm flipV="1">
            <a:off x="4564049" y="1400983"/>
            <a:ext cx="2271757" cy="13581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3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DF60128-9D19-4610-93BC-B34FAD55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46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616932-4A97-4E3B-B439-BDA723E96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1" y="145338"/>
            <a:ext cx="11369963" cy="573577"/>
          </a:xfrm>
        </p:spPr>
        <p:txBody>
          <a:bodyPr/>
          <a:lstStyle/>
          <a:p>
            <a:r>
              <a:rPr lang="en-US" altLang="ko-KR" dirty="0"/>
              <a:t>Automated Self-testing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05B7A7-2DCD-4B45-9893-9F3579D687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52" y="911664"/>
            <a:ext cx="11523769" cy="5140325"/>
          </a:xfrm>
        </p:spPr>
        <p:txBody>
          <a:bodyPr/>
          <a:lstStyle/>
          <a:p>
            <a:r>
              <a:rPr lang="en-US" altLang="ko-KR" dirty="0"/>
              <a:t>Run your server with delay 5 first, and run 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rwlock.sh </a:t>
            </a:r>
            <a:r>
              <a:rPr lang="en-US" altLang="ko-KR" dirty="0"/>
              <a:t>on another terminal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There are 5 default tests, but you can extend them for more complex test cases</a:t>
            </a:r>
          </a:p>
          <a:p>
            <a:r>
              <a:rPr lang="en-US" altLang="ko-KR" dirty="0"/>
              <a:t>To run rwlock.sh, you need to install timestamp. It’s already installed in VM. </a:t>
            </a:r>
          </a:p>
          <a:p>
            <a:r>
              <a:rPr lang="en-US" altLang="ko-KR" dirty="0"/>
              <a:t>If you want to run in your local environment, “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sudo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apt install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moreutils</a:t>
            </a:r>
            <a:r>
              <a:rPr lang="en-US" altLang="ko-KR" dirty="0"/>
              <a:t>”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EDCDFE-0853-40F1-B66B-90C582B4C38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08"/>
          <a:stretch/>
        </p:blipFill>
        <p:spPr>
          <a:xfrm>
            <a:off x="2105922" y="1404656"/>
            <a:ext cx="5477981" cy="26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740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104B8-43B1-7A6D-647C-178F289952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/>
            </a:br>
            <a:r>
              <a:rPr lang="en-US" altLang="ko-KR" dirty="0"/>
              <a:t>Guidelines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18860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BF21AD6-61DA-B0EE-02FF-1968BADC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48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470A013-3B5A-D5E9-1245-D17E30C2A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Notice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D5BC24-1DC7-5F03-8CF0-9E70C1B6A32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Do not change the name and the prototype of the skeleton code</a:t>
            </a:r>
          </a:p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You are allowed to modify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server.c</a:t>
            </a:r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,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hashtable.c</a:t>
            </a:r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, and </a:t>
            </a:r>
            <a:r>
              <a:rPr lang="en-US" altLang="ko-KR" sz="2400" dirty="0" err="1">
                <a:solidFill>
                  <a:schemeClr val="tx1"/>
                </a:solidFill>
                <a:ea typeface="Tahoma" panose="020B0604030504040204" pitchFamily="34" charset="0"/>
              </a:rPr>
              <a:t>rwlock.c</a:t>
            </a:r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pPr lvl="1"/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Do not modify header files, </a:t>
            </a:r>
            <a:r>
              <a:rPr lang="en-US" altLang="ko-KR" dirty="0" err="1">
                <a:solidFill>
                  <a:schemeClr val="tx1"/>
                </a:solidFill>
                <a:ea typeface="Tahoma" panose="020B0604030504040204" pitchFamily="34" charset="0"/>
              </a:rPr>
              <a:t>skvslib.c</a:t>
            </a:r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Submit </a:t>
            </a:r>
            <a:r>
              <a:rPr lang="en-US" altLang="ko-KR" dirty="0">
                <a:solidFill>
                  <a:srgbClr val="FF0000"/>
                </a:solidFill>
                <a:ea typeface="Tahoma" panose="020B0604030504040204" pitchFamily="34" charset="0"/>
              </a:rPr>
              <a:t>honor code agreement 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along with your source code</a:t>
            </a: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Carefully read slides, readme, and header files</a:t>
            </a:r>
            <a:endParaRPr lang="en-US" altLang="ko-KR" sz="2400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r>
              <a:rPr lang="en-US" altLang="ko-KR" sz="2400" dirty="0">
                <a:solidFill>
                  <a:schemeClr val="tx1"/>
                </a:solidFill>
                <a:ea typeface="Tahoma" panose="020B0604030504040204" pitchFamily="34" charset="0"/>
              </a:rPr>
              <a:t>What to submit</a:t>
            </a:r>
          </a:p>
          <a:p>
            <a:pPr lvl="1"/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A </a:t>
            </a:r>
            <a:r>
              <a:rPr lang="en-US" altLang="ko-KR" dirty="0" err="1">
                <a:solidFill>
                  <a:schemeClr val="tx1"/>
                </a:solidFill>
                <a:ea typeface="Tahoma" panose="020B0604030504040204" pitchFamily="34" charset="0"/>
              </a:rPr>
              <a:t>tarball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 named 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202512345_assign5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 including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server.c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hashtable.c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rwlock.c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NoAI.docs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.</a:t>
            </a:r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cd assign5/</a:t>
            </a:r>
            <a:r>
              <a:rPr lang="en-US" altLang="ko-KR" dirty="0" err="1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src</a:t>
            </a:r>
            <a:endParaRPr lang="en-US" altLang="ko-KR" dirty="0">
              <a:solidFill>
                <a:schemeClr val="tx1"/>
              </a:solidFill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  <a:p>
            <a:pPr marL="457189" lvl="1" indent="0">
              <a:buNone/>
            </a:pP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make submit ID=202412345</a:t>
            </a:r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Replace </a:t>
            </a:r>
            <a:r>
              <a:rPr lang="en-US" altLang="ko-KR" dirty="0">
                <a:solidFill>
                  <a:schemeClr val="tx1"/>
                </a:solidFill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202512345 </a:t>
            </a:r>
            <a:r>
              <a:rPr lang="en-US" altLang="ko-KR" dirty="0">
                <a:solidFill>
                  <a:schemeClr val="tx1"/>
                </a:solidFill>
                <a:ea typeface="Tahoma" panose="020B0604030504040204" pitchFamily="34" charset="0"/>
              </a:rPr>
              <a:t>to your student ID without dash</a:t>
            </a:r>
          </a:p>
          <a:p>
            <a:endParaRPr lang="en-US" altLang="ko-KR" dirty="0">
              <a:solidFill>
                <a:schemeClr val="tx1"/>
              </a:solidFill>
              <a:ea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537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-</a:t>
            </a:r>
            <a:fld id="{3D16D23B-24D6-455E-BBD7-6975BEA16FD4}" type="slidenum">
              <a:rPr lang="en-US" altLang="en-US"/>
              <a:pPr lvl="0">
                <a:defRPr/>
              </a:pPr>
              <a:t>49</a:t>
            </a:fld>
            <a:r>
              <a:rPr lang="en-US" altLang="ko-KR" dirty="0"/>
              <a:t>-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Deadline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>
                <a:solidFill>
                  <a:srgbClr val="FF0000"/>
                </a:solidFill>
                <a:ea typeface="Tahoma" panose="020B0604030504040204" pitchFamily="34" charset="0"/>
              </a:rPr>
              <a:t>Deadline: ~ 2025. 12. 18 22:00</a:t>
            </a:r>
            <a:r>
              <a:rPr lang="ko-KR" altLang="en-US" dirty="0">
                <a:solidFill>
                  <a:srgbClr val="FF0000"/>
                </a:solidFill>
                <a:ea typeface="Tahoma" panose="020B0604030504040204" pitchFamily="34" charset="0"/>
              </a:rPr>
              <a:t> </a:t>
            </a:r>
            <a:endParaRPr lang="en-US" altLang="ko-KR" dirty="0">
              <a:solidFill>
                <a:srgbClr val="FF0000"/>
              </a:solidFill>
              <a:ea typeface="Tahoma" panose="020B0604030504040204" pitchFamily="34" charset="0"/>
            </a:endParaRP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0 Points</a:t>
            </a:r>
            <a:r>
              <a:rPr lang="ko-KR" altLang="en-US" dirty="0">
                <a:ea typeface="Tahoma" panose="020B0604030504040204" pitchFamily="34" charset="0"/>
              </a:rPr>
              <a:t> </a:t>
            </a:r>
            <a:r>
              <a:rPr lang="en-US" altLang="ko-KR" dirty="0">
                <a:ea typeface="Tahoma" panose="020B0604030504040204" pitchFamily="34" charset="0"/>
              </a:rPr>
              <a:t>if</a:t>
            </a:r>
            <a:r>
              <a:rPr lang="ko-KR" altLang="en-US" dirty="0">
                <a:ea typeface="Tahoma" panose="020B0604030504040204" pitchFamily="34" charset="0"/>
              </a:rPr>
              <a:t> </a:t>
            </a:r>
            <a:r>
              <a:rPr lang="en-US" altLang="ko-KR" dirty="0">
                <a:ea typeface="Tahoma" panose="020B0604030504040204" pitchFamily="34" charset="0"/>
              </a:rPr>
              <a:t>deadline is missed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0 Points for copying</a:t>
            </a:r>
          </a:p>
          <a:p>
            <a:pPr lvl="0">
              <a:defRPr/>
            </a:pPr>
            <a:r>
              <a:rPr lang="en-US" altLang="ko-KR" dirty="0">
                <a:ea typeface="Tahoma" panose="020B0604030504040204" pitchFamily="34" charset="0"/>
              </a:rPr>
              <a:t>Contact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Please use </a:t>
            </a:r>
            <a:r>
              <a:rPr lang="en-US" altLang="ko-KR" dirty="0" err="1">
                <a:ea typeface="Tahoma" panose="020B0604030504040204" pitchFamily="34" charset="0"/>
              </a:rPr>
              <a:t>Classum</a:t>
            </a:r>
            <a:r>
              <a:rPr lang="en-US" altLang="ko-KR" dirty="0">
                <a:ea typeface="Tahoma" panose="020B0604030504040204" pitchFamily="34" charset="0"/>
              </a:rPr>
              <a:t> for normal Q&amp;A.</a:t>
            </a:r>
          </a:p>
          <a:p>
            <a:pPr lvl="1">
              <a:defRPr/>
            </a:pPr>
            <a:r>
              <a:rPr lang="en-US" altLang="ko-KR" dirty="0">
                <a:ea typeface="Tahoma" panose="020B0604030504040204" pitchFamily="34" charset="0"/>
              </a:rPr>
              <a:t>If you need to contact TA via Email, please attach [LAB 5] as a prefix of title.</a:t>
            </a:r>
          </a:p>
          <a:p>
            <a:pPr lvl="1">
              <a:defRPr/>
            </a:pPr>
            <a:endParaRPr lang="en-US" altLang="ko-KR" dirty="0">
              <a:ea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BD58BB3-5E98-4CDC-8CD3-67B7E821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/>
              <a:t>-</a:t>
            </a:r>
            <a:fld id="{3D16D23B-24D6-455E-BBD7-6975BEA16FD4}" type="slidenum">
              <a:rPr lang="ko-KR" altLang="en-US" smtClean="0"/>
              <a:pPr/>
              <a:t>50</a:t>
            </a:fld>
            <a:r>
              <a:rPr lang="en-US" altLang="ko-KR"/>
              <a:t>-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3082FA-43F3-4877-82C2-7FBBDACF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Criteria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5250EC-B25E-4C01-B22F-9F87021916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build (10)</a:t>
            </a:r>
          </a:p>
          <a:p>
            <a:r>
              <a:rPr lang="en-US" altLang="ko-KR" dirty="0"/>
              <a:t>single create test (5)</a:t>
            </a:r>
          </a:p>
          <a:p>
            <a:r>
              <a:rPr lang="en-US" altLang="ko-KR" dirty="0"/>
              <a:t>single read test (5)</a:t>
            </a:r>
          </a:p>
          <a:p>
            <a:r>
              <a:rPr lang="en-US" altLang="ko-KR" dirty="0"/>
              <a:t>single update test (5)</a:t>
            </a:r>
            <a:endParaRPr lang="ko-KR" altLang="en-US" dirty="0"/>
          </a:p>
          <a:p>
            <a:r>
              <a:rPr lang="en-US" altLang="ko-KR" dirty="0"/>
              <a:t>single delete test (5)</a:t>
            </a:r>
          </a:p>
          <a:p>
            <a:r>
              <a:rPr lang="en-US" altLang="ko-KR" dirty="0"/>
              <a:t>concurrency test (10)</a:t>
            </a:r>
          </a:p>
          <a:p>
            <a:r>
              <a:rPr lang="en-US" altLang="ko-KR" dirty="0"/>
              <a:t>write lock test (10)</a:t>
            </a:r>
          </a:p>
          <a:p>
            <a:r>
              <a:rPr lang="en-US" altLang="ko-KR" dirty="0"/>
              <a:t>read lock test (10)</a:t>
            </a:r>
          </a:p>
          <a:p>
            <a:r>
              <a:rPr lang="en-US" altLang="ko-KR" dirty="0"/>
              <a:t>fine-grained lock test (10)</a:t>
            </a:r>
          </a:p>
          <a:p>
            <a:r>
              <a:rPr lang="en-US" altLang="ko-KR" dirty="0"/>
              <a:t>complex scenario test (15)</a:t>
            </a:r>
          </a:p>
          <a:p>
            <a:r>
              <a:rPr lang="en-US" altLang="ko-KR" dirty="0"/>
              <a:t>complex scenario test including quick read (15)</a:t>
            </a:r>
            <a:endParaRPr lang="ko-KR" altLang="en-US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93733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215EC4-6A25-41BE-F0FD-41615F1A01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2632320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파랑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맑은 고딕">
      <a:majorFont>
        <a:latin typeface="Calibri" panose="20000000000000000000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メイリオ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10925</TotalTime>
  <Words>4548</Words>
  <Application>Microsoft Office PowerPoint</Application>
  <PresentationFormat>와이드스크린</PresentationFormat>
  <Paragraphs>857</Paragraphs>
  <Slides>51</Slides>
  <Notes>48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61" baseType="lpstr">
      <vt:lpstr>맑은 고딕</vt:lpstr>
      <vt:lpstr>Arial</vt:lpstr>
      <vt:lpstr>Bahnschrift</vt:lpstr>
      <vt:lpstr>Bahnschrift Light</vt:lpstr>
      <vt:lpstr>Calibri</vt:lpstr>
      <vt:lpstr>Consolas</vt:lpstr>
      <vt:lpstr>Courier New</vt:lpstr>
      <vt:lpstr>Tahoma</vt:lpstr>
      <vt:lpstr>Wingdings</vt:lpstr>
      <vt:lpstr>1_Office 테마</vt:lpstr>
      <vt:lpstr>Lab 5. Simple KVS SNU System Programming Assignment</vt:lpstr>
      <vt:lpstr>What You Should Do</vt:lpstr>
      <vt:lpstr>Background 1: Basic Server/Client</vt:lpstr>
      <vt:lpstr>What is the Client-Server Model?</vt:lpstr>
      <vt:lpstr>Programmer’s View</vt:lpstr>
      <vt:lpstr>TCP Socket Interface</vt:lpstr>
      <vt:lpstr>System Calls for Basic Server</vt:lpstr>
      <vt:lpstr>System Calls for Basic Client</vt:lpstr>
      <vt:lpstr>System Calls for Socket Options</vt:lpstr>
      <vt:lpstr>read()</vt:lpstr>
      <vt:lpstr>write()</vt:lpstr>
      <vt:lpstr>Background 2: Lock</vt:lpstr>
      <vt:lpstr>Spin Lock vs. Mutex Lock</vt:lpstr>
      <vt:lpstr>Mutex Lock</vt:lpstr>
      <vt:lpstr>Many Readers &amp; Few Writers</vt:lpstr>
      <vt:lpstr>RW Lock</vt:lpstr>
      <vt:lpstr>FIFO RW Lock</vt:lpstr>
      <vt:lpstr>Signaling through Condition Variables</vt:lpstr>
      <vt:lpstr>Part 1: SKVS Server</vt:lpstr>
      <vt:lpstr>SKVS Protocol</vt:lpstr>
      <vt:lpstr>SKVS Protocol (cont.)</vt:lpstr>
      <vt:lpstr>Example</vt:lpstr>
      <vt:lpstr>Handling Errors</vt:lpstr>
      <vt:lpstr>SKVS Semantics</vt:lpstr>
      <vt:lpstr>Why Static 10 Threads? Any Other Ways for Concurrency?</vt:lpstr>
      <vt:lpstr>Event-Driven Socket Programming (Out of Scope)</vt:lpstr>
      <vt:lpstr>SKVS API</vt:lpstr>
      <vt:lpstr>Server Requirement</vt:lpstr>
      <vt:lpstr>Usage Example for Interactive Mode (client w/ -t)</vt:lpstr>
      <vt:lpstr>Usage Example for Silent Mode (client w/o -t)</vt:lpstr>
      <vt:lpstr>Part 2: RW Lock</vt:lpstr>
      <vt:lpstr>Lock</vt:lpstr>
      <vt:lpstr>Custom RW Lock: FIFO RW Lock + Quick read</vt:lpstr>
      <vt:lpstr>Custom RW Lock: FIFO RW Lock + Quick read (2)</vt:lpstr>
      <vt:lpstr>rwlock.c</vt:lpstr>
      <vt:lpstr>hashtable.c</vt:lpstr>
      <vt:lpstr>hashtable.c</vt:lpstr>
      <vt:lpstr>Dumping Global Hash Table</vt:lpstr>
      <vt:lpstr>Requirements</vt:lpstr>
      <vt:lpstr> Debugging and Testing</vt:lpstr>
      <vt:lpstr>Reference Binaries for self-checking</vt:lpstr>
      <vt:lpstr>Self-testing for Write Lock</vt:lpstr>
      <vt:lpstr>Self-testing for Read Lock</vt:lpstr>
      <vt:lpstr>Self-testing for FIFO Scenario</vt:lpstr>
      <vt:lpstr>Self-testing for Quick Read Scenario</vt:lpstr>
      <vt:lpstr>Automated Self-testing</vt:lpstr>
      <vt:lpstr> Guidelines</vt:lpstr>
      <vt:lpstr>Notice</vt:lpstr>
      <vt:lpstr>Deadline</vt:lpstr>
      <vt:lpstr>Criteria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programming labs</dc:title>
  <dc:creator>Jongki Park</dc:creator>
  <cp:lastModifiedBy>Junghan Yoon</cp:lastModifiedBy>
  <cp:revision>2093</cp:revision>
  <dcterms:created xsi:type="dcterms:W3CDTF">2024-06-13T02:16:16Z</dcterms:created>
  <dcterms:modified xsi:type="dcterms:W3CDTF">2025-12-09T03:19:48Z</dcterms:modified>
  <cp:version>1000.0000.01</cp:version>
</cp:coreProperties>
</file>